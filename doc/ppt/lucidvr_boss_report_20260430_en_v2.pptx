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34747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LucidVR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463040" cy="54864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00200"/>
            <a:ext cx="804672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Efficient Video Super-Resolution
for Real Degraded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85039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50" b="0">
                <a:solidFill>
                  <a:srgbClr val="DBE5EE"/>
                </a:solidFill>
                <a:latin typeface="Aptos"/>
              </a:rPr>
              <a:t>Strategy: reproduce the FlashVSR efficiency path, then adapt it to internal video/image data and realistic degradations.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005840"/>
            <a:ext cx="2788920" cy="443484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3E5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87968" y="1325880"/>
            <a:ext cx="2103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Executive thesis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0" y="1874519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8552" y="1810512"/>
            <a:ext cx="1984248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20" b="0">
                <a:solidFill>
                  <a:srgbClr val="E2EBF3"/>
                </a:solidFill>
                <a:latin typeface="Aptos"/>
              </a:rPr>
              <a:t>Generic video generators are useful baselines, but can hallucinate identity/object changes.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23960" y="2377440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8552" y="2313432"/>
            <a:ext cx="1984248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20" b="0">
                <a:solidFill>
                  <a:srgbClr val="E2EBF3"/>
                </a:solidFill>
                <a:latin typeface="Aptos"/>
              </a:rPr>
              <a:t>A VSR production model needs fidelity, temporal stability, and predictable latency.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2880360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2816352"/>
            <a:ext cx="1984248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20" b="0">
                <a:solidFill>
                  <a:srgbClr val="E2EBF3"/>
                </a:solidFill>
                <a:latin typeface="Aptos"/>
              </a:rPr>
              <a:t>FlashVSR provides a strong blueprint; LucidVR adds internal-data adaptation and reproducible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172200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B4C2CF"/>
                </a:solidFill>
                <a:latin typeface="Aptos"/>
              </a:rPr>
              <a:t>April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Motivation: VSR is not video re-generation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515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66270"/>
                </a:solidFill>
                <a:latin typeface="Aptos"/>
              </a:rPr>
              <a:t>The first slide with visual evidence should show where SeedVR is strong but misaligned with restoration fidelity.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97280"/>
            <a:ext cx="1051560" cy="41148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2240280" cy="20574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54480"/>
            <a:ext cx="20208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LQ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400300"/>
            <a:ext cx="194767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real degraded frame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463040"/>
            <a:ext cx="2240280" cy="20574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1554480"/>
            <a:ext cx="20208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SeedVR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9544" y="2400300"/>
            <a:ext cx="194767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may change face / object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1463040"/>
            <a:ext cx="2240280" cy="20574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41848" y="1554480"/>
            <a:ext cx="20208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LucidVR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8424" y="2400300"/>
            <a:ext cx="194767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faithful restoration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64208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C1A2B"/>
                </a:solidFill>
                <a:latin typeface="Aptos"/>
              </a:rPr>
              <a:t>Decision framing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2093976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2029968"/>
            <a:ext cx="235000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SeedVR remains a valuable perceptual baseline.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2404872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2340864"/>
            <a:ext cx="235000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However, hallucination is unacceptable for many VSR use cases.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2715768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1352" y="2651760"/>
            <a:ext cx="235000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LucidVR optimizes for restoration fidelity and speed rather than unconstrained generation.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51960"/>
            <a:ext cx="10561320" cy="960120"/>
          </a:xfrm>
          <a:prstGeom prst="roundRect">
            <a:avLst/>
          </a:prstGeom>
          <a:solidFill>
            <a:srgbClr val="DEF6EF"/>
          </a:solidFill>
          <a:ln w="12700">
            <a:solidFill>
              <a:srgbClr val="B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553712"/>
            <a:ext cx="10104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C1A2B"/>
                </a:solidFill>
                <a:latin typeface="Aptos"/>
              </a:rPr>
              <a:t>Success criterion: a model that improves sharpness and perceptual quality while preserving content identity, motion, and frame-rate consistency.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3200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270"/>
                </a:solidFill>
                <a:latin typeface="Aptos"/>
              </a:rPr>
              <a:t>LucidVR / executive draft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6627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Blueprint from FlashVSR, adapted for LucidVR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515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66270"/>
                </a:solidFill>
                <a:latin typeface="Aptos"/>
              </a:rPr>
              <a:t>FlashVSR shows a practical route from high-quality diffusion VSR to streaming one-step inference.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97280"/>
            <a:ext cx="1051560" cy="41148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743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C1A2B"/>
                </a:solidFill>
                <a:latin typeface="Aptos"/>
              </a:rPr>
              <a:t>FlashVSR paper blueprint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48839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084831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Wan2.1-1.3B backbone + LoRA rank 384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441447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377439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Three-stage training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734055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670047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Stage 1: video-image joint teacher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026663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2962655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Stage 2: sparse-causal adaptation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319271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3255263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Stage 3: one-step distillation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611879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547871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Reported: ~17 FPS at 768×1408 on A100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1417320"/>
            <a:ext cx="2743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1691640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C1A2B"/>
                </a:solidFill>
                <a:latin typeface="Aptos"/>
              </a:rPr>
              <a:t>LucidVR adaptation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148839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6511" y="2084831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Internal Yubari / Takano video sources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2441447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96511" y="2377439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Internal high-res image sources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2734055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96511" y="2670047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Aliyun-style realistic degradation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3026663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96511" y="2962655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Corrected LQ projector / VAE temporal alignment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3319271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96511" y="3255263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Multi-node B200 training and utilization monitoring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1417320"/>
            <a:ext cx="4343400" cy="4297680"/>
          </a:xfrm>
          <a:prstGeom prst="roundRect">
            <a:avLst/>
          </a:prstGeom>
          <a:solidFill>
            <a:srgbClr val="FCFDFE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59168" y="1691640"/>
            <a:ext cx="3566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C1A2B"/>
                </a:solidFill>
                <a:latin typeface="Aptos"/>
              </a:rPr>
              <a:t>What is different from a direct reproduction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86600" y="2240279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51192" y="2176272"/>
            <a:ext cx="3310127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C232B"/>
                </a:solidFill>
                <a:latin typeface="Aptos"/>
              </a:rPr>
              <a:t>The hardest part is not only model code: it is data + degradation + latent alignment.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86600" y="2633472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51192" y="2569464"/>
            <a:ext cx="3310127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C232B"/>
                </a:solidFill>
                <a:latin typeface="Aptos"/>
              </a:rPr>
              <a:t>Multiple early branches were deprecated after exposing loss, memory, or motion-quality issues.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86600" y="3026664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51192" y="2962656"/>
            <a:ext cx="3310127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C232B"/>
                </a:solidFill>
                <a:latin typeface="Aptos"/>
              </a:rPr>
              <a:t>Current Stage 1 is a corrected teacher path designed to connect cleanly to Stage 2.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3200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270"/>
                </a:solidFill>
                <a:latin typeface="Aptos"/>
              </a:rPr>
              <a:t>LucidVR / executive draft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6627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LucidVR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515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66270"/>
                </a:solidFill>
                <a:latin typeface="Aptos"/>
              </a:rPr>
              <a:t>Training and inference are organized around a faithful Stage 1 teacher and a sparse-causal acceleration path.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97280"/>
            <a:ext cx="1051560" cy="41148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920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C232B"/>
                </a:solidFill>
                <a:latin typeface="Aptos"/>
              </a:rPr>
              <a:t>Internal data
Yubari / Takano / Images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1920240" cy="594360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19" b="1">
                <a:solidFill>
                  <a:srgbClr val="1C232B"/>
                </a:solidFill>
                <a:latin typeface="Aptos"/>
              </a:rPr>
              <a:t>Realistic degradation
Aliyun-style LQ synthesis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63040" y="2011680"/>
            <a:ext cx="0" cy="320040"/>
          </a:xfrm>
          <a:prstGeom prst="line">
            <a:avLst/>
          </a:prstGeom>
          <a:ln w="25400">
            <a:solidFill>
              <a:srgbClr val="E87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1234440"/>
            <a:ext cx="1874519" cy="777240"/>
          </a:xfrm>
          <a:prstGeom prst="roundRect">
            <a:avLst/>
          </a:prstGeom>
          <a:solidFill>
            <a:srgbClr val="DEF6EF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19" b="1">
                <a:solidFill>
                  <a:srgbClr val="1C232B"/>
                </a:solidFill>
                <a:latin typeface="Aptos"/>
              </a:rPr>
              <a:t>LQ Proj-In
non-streaming aligned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14300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C232B"/>
                </a:solidFill>
                <a:latin typeface="Aptos"/>
              </a:rPr>
              <a:t>WAN DiT Teacher
full attention + LoRA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234440"/>
            <a:ext cx="1554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C232B"/>
                </a:solidFill>
                <a:latin typeface="Aptos"/>
              </a:rPr>
              <a:t>VAE decoder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1234440"/>
            <a:ext cx="1828800" cy="777240"/>
          </a:xfrm>
          <a:prstGeom prst="roundRect">
            <a:avLst/>
          </a:prstGeom>
          <a:solidFill>
            <a:srgbClr val="E4EEFF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C232B"/>
                </a:solidFill>
                <a:latin typeface="Aptos"/>
              </a:rPr>
              <a:t>Stage 1 teacher
quality anchor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23160" y="1627632"/>
            <a:ext cx="365760" cy="91440"/>
          </a:xfrm>
          <a:prstGeom prst="line">
            <a:avLst/>
          </a:prstGeom>
          <a:ln w="25400">
            <a:solidFill>
              <a:srgbClr val="009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63440" y="1627632"/>
            <a:ext cx="320040" cy="0"/>
          </a:xfrm>
          <a:prstGeom prst="line">
            <a:avLst/>
          </a:prstGeom>
          <a:ln w="25400">
            <a:solidFill>
              <a:srgbClr val="009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40880" y="1627632"/>
            <a:ext cx="320040" cy="0"/>
          </a:xfrm>
          <a:prstGeom prst="line">
            <a:avLst/>
          </a:prstGeom>
          <a:ln w="25400">
            <a:solidFill>
              <a:srgbClr val="009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15400" y="1627632"/>
            <a:ext cx="457200" cy="0"/>
          </a:xfrm>
          <a:prstGeom prst="line">
            <a:avLst/>
          </a:prstGeom>
          <a:ln w="25400">
            <a:solidFill>
              <a:srgbClr val="009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88920" y="2240280"/>
            <a:ext cx="81381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19" b="0">
                <a:solidFill>
                  <a:srgbClr val="566270"/>
                </a:solidFill>
                <a:latin typeface="Aptos"/>
              </a:rPr>
              <a:t>Corrected alignment: 17f→5 latent, 89f→23 latent; video/image branches pass VAE/projector separately and merge at token level.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063240"/>
            <a:ext cx="1874519" cy="777240"/>
          </a:xfrm>
          <a:prstGeom prst="roundRect">
            <a:avLst/>
          </a:prstGeom>
          <a:solidFill>
            <a:srgbClr val="DEF6EF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19" b="1">
                <a:solidFill>
                  <a:srgbClr val="1C232B"/>
                </a:solidFill>
                <a:latin typeface="Aptos"/>
              </a:rPr>
              <a:t>Causal LR Proj-In
4-frame groups + cache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2926080"/>
            <a:ext cx="2057400" cy="1051560"/>
          </a:xfrm>
          <a:prstGeom prst="roundRect">
            <a:avLst/>
          </a:prstGeom>
          <a:solidFill>
            <a:srgbClr val="EEEAFF"/>
          </a:solidFill>
          <a:ln w="12700">
            <a:solidFill>
              <a:srgbClr val="62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C232B"/>
                </a:solidFill>
                <a:latin typeface="Aptos"/>
              </a:rPr>
              <a:t>Sparse-Causal DiT
(2,8,8) blocks + top-k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063240"/>
            <a:ext cx="1554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C232B"/>
                </a:solidFill>
                <a:latin typeface="Aptos"/>
              </a:rPr>
              <a:t>Streaming path
video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3063240"/>
            <a:ext cx="1828800" cy="777240"/>
          </a:xfrm>
          <a:prstGeom prst="roundRect">
            <a:avLst/>
          </a:prstGeom>
          <a:solidFill>
            <a:srgbClr val="EEEAFF"/>
          </a:solidFill>
          <a:ln w="12700">
            <a:solidFill>
              <a:srgbClr val="62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C232B"/>
                </a:solidFill>
                <a:latin typeface="Aptos"/>
              </a:rPr>
              <a:t>Stage 2 model
faster inference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23160" y="3456432"/>
            <a:ext cx="365760" cy="0"/>
          </a:xfrm>
          <a:prstGeom prst="line">
            <a:avLst/>
          </a:prstGeom>
          <a:ln w="25400">
            <a:solidFill>
              <a:srgbClr val="625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63440" y="3456432"/>
            <a:ext cx="320040" cy="0"/>
          </a:xfrm>
          <a:prstGeom prst="line">
            <a:avLst/>
          </a:prstGeom>
          <a:ln w="25400">
            <a:solidFill>
              <a:srgbClr val="625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40880" y="3456432"/>
            <a:ext cx="320040" cy="0"/>
          </a:xfrm>
          <a:prstGeom prst="line">
            <a:avLst/>
          </a:prstGeom>
          <a:ln w="25400">
            <a:solidFill>
              <a:srgbClr val="625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915400" y="3456432"/>
            <a:ext cx="457200" cy="0"/>
          </a:xfrm>
          <a:prstGeom prst="line">
            <a:avLst/>
          </a:prstGeom>
          <a:ln w="25400">
            <a:solidFill>
              <a:srgbClr val="625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88920" y="4133087"/>
            <a:ext cx="81381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19" b="0">
                <a:solidFill>
                  <a:srgbClr val="566270"/>
                </a:solidFill>
                <a:latin typeface="Aptos"/>
              </a:rPr>
              <a:t>Stage 2 v6: official chunk-level mask, local_num window, block-sparse attention, video-only flow matching.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88920" y="4864608"/>
            <a:ext cx="1874519" cy="731520"/>
          </a:xfrm>
          <a:prstGeom prst="roundRect">
            <a:avLst/>
          </a:prstGeom>
          <a:solidFill>
            <a:srgbClr val="EEEAFF"/>
          </a:solidFill>
          <a:ln w="12700">
            <a:solidFill>
              <a:srgbClr val="62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C232B"/>
                </a:solidFill>
                <a:latin typeface="Aptos"/>
              </a:rPr>
              <a:t>Stage 2 teacher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754880"/>
            <a:ext cx="2057400" cy="960120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C232B"/>
                </a:solidFill>
                <a:latin typeface="Aptos"/>
              </a:rPr>
              <a:t>One-step student
DMD + FM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4864608"/>
            <a:ext cx="1554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232B"/>
                </a:solidFill>
                <a:latin typeface="Aptos"/>
              </a:rPr>
              <a:t>Pixel / LPIPS
reconstruction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0" y="4864608"/>
            <a:ext cx="1828800" cy="731520"/>
          </a:xfrm>
          <a:prstGeom prst="roundRect">
            <a:avLst/>
          </a:prstGeom>
          <a:solidFill>
            <a:srgbClr val="DEF6EF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C232B"/>
                </a:solidFill>
                <a:latin typeface="Aptos"/>
              </a:rPr>
              <a:t>Deployable
LucidVR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663440" y="5230368"/>
            <a:ext cx="320040" cy="0"/>
          </a:xfrm>
          <a:prstGeom prst="line">
            <a:avLst/>
          </a:prstGeom>
          <a:ln w="25400">
            <a:solidFill>
              <a:srgbClr val="E87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040880" y="5230368"/>
            <a:ext cx="320040" cy="0"/>
          </a:xfrm>
          <a:prstGeom prst="line">
            <a:avLst/>
          </a:prstGeom>
          <a:ln w="25400">
            <a:solidFill>
              <a:srgbClr val="E87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15400" y="5230368"/>
            <a:ext cx="457200" cy="0"/>
          </a:xfrm>
          <a:prstGeom prst="line">
            <a:avLst/>
          </a:prstGeom>
          <a:ln w="25400">
            <a:solidFill>
              <a:srgbClr val="E87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6492240"/>
            <a:ext cx="3200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270"/>
                </a:solidFill>
                <a:latin typeface="Aptos"/>
              </a:rPr>
              <a:t>LucidVR / executive draft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6627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Engineering progress: experiments converged to a cleaner Stage 1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515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66270"/>
                </a:solidFill>
                <a:latin typeface="Aptos"/>
              </a:rPr>
              <a:t>The current setup is the result of debugging data, degradation, projector initialization, temporal alignment, and multi-node utilization.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97280"/>
            <a:ext cx="1051560" cy="41148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691640" cy="384048"/>
          </a:xfrm>
          <a:prstGeom prst="rect">
            <a:avLst/>
          </a:prstGeom>
          <a:solidFill>
            <a:srgbClr val="0C1A2B"/>
          </a:solidFill>
          <a:ln w="12700">
            <a:solidFill>
              <a:srgbClr val="0C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80" b="1">
                <a:solidFill>
                  <a:srgbClr val="FFFFFF"/>
                </a:solidFill>
                <a:latin typeface="Aptos"/>
              </a:rPr>
              <a:t>Branch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417320"/>
            <a:ext cx="3794760" cy="384048"/>
          </a:xfrm>
          <a:prstGeom prst="rect">
            <a:avLst/>
          </a:prstGeom>
          <a:solidFill>
            <a:srgbClr val="0C1A2B"/>
          </a:solidFill>
          <a:ln w="12700">
            <a:solidFill>
              <a:srgbClr val="0C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8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417320"/>
            <a:ext cx="5486400" cy="384048"/>
          </a:xfrm>
          <a:prstGeom prst="rect">
            <a:avLst/>
          </a:prstGeom>
          <a:solidFill>
            <a:srgbClr val="0C1A2B"/>
          </a:solidFill>
          <a:ln w="12700">
            <a:solidFill>
              <a:srgbClr val="0C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80" b="1">
                <a:solidFill>
                  <a:srgbClr val="FFFFFF"/>
                </a:solidFill>
                <a:latin typeface="Aptos"/>
              </a:rPr>
              <a:t>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56232"/>
            <a:ext cx="1691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v4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856232"/>
            <a:ext cx="37947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Multi-source data + packed attention + Aliyun degradation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56232"/>
            <a:ext cx="5486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Exposed slow convergence and sample-definition issues; not kept as final 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86584"/>
            <a:ext cx="1691640" cy="493776"/>
          </a:xfrm>
          <a:prstGeom prst="rect">
            <a:avLst/>
          </a:prstGeom>
          <a:solidFill>
            <a:srgbClr val="F2F5F8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v5.1 / v5.2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2386584"/>
            <a:ext cx="3794760" cy="493776"/>
          </a:xfrm>
          <a:prstGeom prst="rect">
            <a:avLst/>
          </a:prstGeom>
          <a:solidFill>
            <a:srgbClr val="F2F5F8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Grouped image samples with different loss weighting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2386584"/>
            <a:ext cx="5486400" cy="493776"/>
          </a:xfrm>
          <a:prstGeom prst="rect">
            <a:avLst/>
          </a:prstGeom>
          <a:solidFill>
            <a:srgbClr val="F2F5F8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Deprecated: too much padding/shape logic and memory pressure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16936"/>
            <a:ext cx="1691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v5.3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2916936"/>
            <a:ext cx="37947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Author-style paired video + image pseudo-video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916936"/>
            <a:ext cx="5486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Kept as the clean joint-training 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47288"/>
            <a:ext cx="1691640" cy="493776"/>
          </a:xfrm>
          <a:prstGeom prst="rect">
            <a:avLst/>
          </a:prstGeom>
          <a:solidFill>
            <a:srgbClr val="F2F5F8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v5.3.5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3447288"/>
            <a:ext cx="3794760" cy="493776"/>
          </a:xfrm>
          <a:prstGeom prst="rect">
            <a:avLst/>
          </a:prstGeom>
          <a:solidFill>
            <a:srgbClr val="F2F5F8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89f Stage1, non-streaming aligned projector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3447288"/>
            <a:ext cx="5486400" cy="493776"/>
          </a:xfrm>
          <a:prstGeom prst="rect">
            <a:avLst/>
          </a:prstGeom>
          <a:solidFill>
            <a:srgbClr val="F2F5F8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Current long-frame teacher candidate on 48 GPUs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77639"/>
            <a:ext cx="1691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v5.3.6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3977639"/>
            <a:ext cx="37947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17f Stage1, same rules as 5.3.5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3977639"/>
            <a:ext cx="5486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Current short-frame teacher candidate on 16 GPUs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507992"/>
            <a:ext cx="1691640" cy="493776"/>
          </a:xfrm>
          <a:prstGeom prst="rect">
            <a:avLst/>
          </a:prstGeom>
          <a:solidFill>
            <a:srgbClr val="F2F5F8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v6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4507992"/>
            <a:ext cx="3794760" cy="493776"/>
          </a:xfrm>
          <a:prstGeom prst="rect">
            <a:avLst/>
          </a:prstGeom>
          <a:solidFill>
            <a:srgbClr val="F2F5F8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Stage2 sparse-causal training code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4507992"/>
            <a:ext cx="5486400" cy="493776"/>
          </a:xfrm>
          <a:prstGeom prst="rect">
            <a:avLst/>
          </a:prstGeom>
          <a:solidFill>
            <a:srgbClr val="F2F5F8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Designed; waiting for smoke test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650992"/>
            <a:ext cx="10607040" cy="502920"/>
          </a:xfrm>
          <a:prstGeom prst="roundRect">
            <a:avLst/>
          </a:prstGeom>
          <a:solidFill>
            <a:srgbClr val="DEF6EF"/>
          </a:solidFill>
          <a:ln w="12700">
            <a:solidFill>
              <a:srgbClr val="A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806440"/>
            <a:ext cx="10195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1">
                <a:solidFill>
                  <a:srgbClr val="0C1A2B"/>
                </a:solidFill>
                <a:latin typeface="Aptos"/>
              </a:rPr>
              <a:t>Current confidence point: the latest Stage 1 runs no longer use the old streaming projector mismatch; LQ tokens and DiT tokens are aligned before continuing training.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3200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270"/>
                </a:solidFill>
                <a:latin typeface="Aptos"/>
              </a:rPr>
              <a:t>LucidVR / executive draft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6627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Data and 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515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66270"/>
                </a:solidFill>
                <a:latin typeface="Aptos"/>
              </a:rPr>
              <a:t>The evaluation package should make quality and speed comparable across LucidVR, FlashVSR, and SeedVR.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97280"/>
            <a:ext cx="1051560" cy="41148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1089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C1A2B"/>
                </a:solidFill>
                <a:latin typeface="Aptos"/>
              </a:rPr>
              <a:t>Training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12848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48840"/>
            <a:ext cx="225856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Yubari video tar stream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523744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459736"/>
            <a:ext cx="225856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Takano video tar stream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834639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770632"/>
            <a:ext cx="225856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Takano image tar / manifest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145535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081527"/>
            <a:ext cx="225856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Video-image paired Stage1 sampling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456431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92423"/>
            <a:ext cx="225856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Video-only Stage2 adaptation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1417320"/>
            <a:ext cx="31089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691640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C1A2B"/>
                </a:solidFill>
                <a:latin typeface="Aptos"/>
              </a:rPr>
              <a:t>Degradation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2212848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1" y="2148840"/>
            <a:ext cx="2258568" cy="42062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Aliyun-style video degradation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542032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1" y="2478024"/>
            <a:ext cx="2258568" cy="42062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Compression / blur / noise artifacts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2871215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1" y="2807208"/>
            <a:ext cx="2258568" cy="42062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Original RealBasicVSR-style branch kept for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3200399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1" y="3136391"/>
            <a:ext cx="2258568" cy="42062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Fixed synthetic test set for repeatability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0" y="1417320"/>
            <a:ext cx="32918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1691640"/>
            <a:ext cx="2377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C1A2B"/>
                </a:solidFill>
                <a:latin typeface="Aptos"/>
              </a:rPr>
              <a:t>Evaluation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2212848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9871" y="2148840"/>
            <a:ext cx="244144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Synthetic degraded test clips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2523744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9871" y="2459736"/>
            <a:ext cx="244144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Real challenging videos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2834639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9871" y="2770632"/>
            <a:ext cx="244144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Same input FPS / output FPS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3145535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19871" y="3081527"/>
            <a:ext cx="244144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Runtime, VRAM, model size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3456431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19871" y="3392423"/>
            <a:ext cx="244144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Visual inspection: identity, motion, detail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3200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270"/>
                </a:solidFill>
                <a:latin typeface="Aptos"/>
              </a:rPr>
              <a:t>LucidVR / executive draft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6627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Stage 2 v6: what changes technically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515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66270"/>
                </a:solidFill>
                <a:latin typeface="Aptos"/>
              </a:rPr>
              <a:t>Stage 2 is not just a mask; it replaces the self-attention path with sparse-causal block attention while making LR conditioning causal.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97280"/>
            <a:ext cx="1051560" cy="41148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7432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0967D"/>
                </a:solidFill>
                <a:latin typeface="Aptos"/>
              </a:rPr>
              <a:t>Causal LR Proj-In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212848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48840"/>
            <a:ext cx="2075688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LQ frames processed in 4-frame groups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560320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496312"/>
            <a:ext cx="2075688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Previous group cache is carried forward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907791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843784"/>
            <a:ext cx="2075688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For 89 frames: LQ projector outputs 22 latent-time steps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255263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191256"/>
            <a:ext cx="2075688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Aligns with Stage2 target after dropping first GT latent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1417320"/>
            <a:ext cx="3474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1691640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6253BE"/>
                </a:solidFill>
                <a:latin typeface="Aptos"/>
              </a:rPr>
              <a:t>Sparse-causal self-attention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2212848"/>
            <a:ext cx="73152" cy="73152"/>
          </a:xfrm>
          <a:prstGeom prst="rect">
            <a:avLst/>
          </a:prstGeom>
          <a:solidFill>
            <a:srgbClr val="6253BE"/>
          </a:solidFill>
          <a:ln w="12700">
            <a:solidFill>
              <a:srgbClr val="62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96511" y="2148840"/>
            <a:ext cx="2578608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Chunk-level causal mask, not token-level lower triangle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2532888"/>
            <a:ext cx="73152" cy="73152"/>
          </a:xfrm>
          <a:prstGeom prst="rect">
            <a:avLst/>
          </a:prstGeom>
          <a:solidFill>
            <a:srgbClr val="6253BE"/>
          </a:solidFill>
          <a:ln w="12700">
            <a:solidFill>
              <a:srgbClr val="62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96511" y="2468880"/>
            <a:ext cx="2578608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First three chunks form a full-attention start window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852928"/>
            <a:ext cx="73152" cy="73152"/>
          </a:xfrm>
          <a:prstGeom prst="rect">
            <a:avLst/>
          </a:prstGeom>
          <a:solidFill>
            <a:srgbClr val="6253BE"/>
          </a:solidFill>
          <a:ln w="12700">
            <a:solidFill>
              <a:srgbClr val="62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6511" y="2788920"/>
            <a:ext cx="2578608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Official local_num window controls history length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3172968"/>
            <a:ext cx="73152" cy="73152"/>
          </a:xfrm>
          <a:prstGeom prst="rect">
            <a:avLst/>
          </a:prstGeom>
          <a:solidFill>
            <a:srgbClr val="6253BE"/>
          </a:solidFill>
          <a:ln w="12700">
            <a:solidFill>
              <a:srgbClr val="62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96511" y="3108960"/>
            <a:ext cx="2578608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(2,8,8) blocks = 128 tokens per sparse block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493008"/>
            <a:ext cx="73152" cy="73152"/>
          </a:xfrm>
          <a:prstGeom prst="rect">
            <a:avLst/>
          </a:prstGeom>
          <a:solidFill>
            <a:srgbClr val="6253BE"/>
          </a:solidFill>
          <a:ln w="12700">
            <a:solidFill>
              <a:srgbClr val="62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96511" y="3429000"/>
            <a:ext cx="2578608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Top-k block pairs selected via Q/K pooled features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1417320"/>
            <a:ext cx="34290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1691640"/>
            <a:ext cx="2651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E87E3A"/>
                </a:solidFill>
                <a:latin typeface="Aptos"/>
              </a:rPr>
              <a:t>Why this matters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26679" y="2212848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148840"/>
            <a:ext cx="2487168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Reduces redundant attention cost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26679" y="2560320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91271" y="2496312"/>
            <a:ext cx="2487168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Enables streaming-friendly adaptation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26679" y="2907791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91271" y="2843784"/>
            <a:ext cx="2487168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Keeps Stage1 weights transferable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26679" y="3255263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91271" y="3191256"/>
            <a:ext cx="2487168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Provides a path to fast one-step distillation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92240"/>
            <a:ext cx="3200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270"/>
                </a:solidFill>
                <a:latin typeface="Aptos"/>
              </a:rPr>
              <a:t>LucidVR / executive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6627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Results slide: use a small number of high-signal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515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66270"/>
                </a:solidFill>
                <a:latin typeface="Aptos"/>
              </a:rPr>
              <a:t>Recommended: one SeedVR failure case and one LucidVR/FlashVSR improvement case, each with runtime numbers.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97280"/>
            <a:ext cx="1051560" cy="41148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1600200" cy="150876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44752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Input LQ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016251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real degraded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353312"/>
            <a:ext cx="1600200" cy="150876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1444752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SeedVR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9464" y="2016251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content drift / slow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53312"/>
            <a:ext cx="1600200" cy="150876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444752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FlashVSR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016251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official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53312"/>
            <a:ext cx="1600200" cy="150876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444752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LucidVR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016251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internal-data adapted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353312"/>
            <a:ext cx="1600200" cy="150876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7" y="1444752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2016251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if available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2680" y="1353312"/>
            <a:ext cx="1600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1591056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0C1A2B"/>
                </a:solidFill>
                <a:latin typeface="Aptos"/>
              </a:rPr>
              <a:t>Runtime
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95560" y="2002536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60152" y="1938528"/>
            <a:ext cx="932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80" b="0">
                <a:solidFill>
                  <a:srgbClr val="1C232B"/>
                </a:solidFill>
                <a:latin typeface="Aptos"/>
              </a:rPr>
              <a:t>sec / clip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95560" y="2185416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0152" y="2121408"/>
            <a:ext cx="932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80" b="0">
                <a:solidFill>
                  <a:srgbClr val="1C232B"/>
                </a:solidFill>
                <a:latin typeface="Aptos"/>
              </a:rPr>
              <a:t>FPS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95560" y="2368296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0152" y="2304288"/>
            <a:ext cx="932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80" b="0">
                <a:solidFill>
                  <a:srgbClr val="1C232B"/>
                </a:solidFill>
                <a:latin typeface="Aptos"/>
              </a:rPr>
              <a:t>VRAM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95560" y="2551176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60152" y="2487168"/>
            <a:ext cx="932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80" b="0">
                <a:solidFill>
                  <a:srgbClr val="1C232B"/>
                </a:solidFill>
                <a:latin typeface="Aptos"/>
              </a:rPr>
              <a:t>model size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767328"/>
            <a:ext cx="1600200" cy="14173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3858768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Input LQ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4384548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motion case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23160" y="3767328"/>
            <a:ext cx="1600200" cy="14173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32888" y="3858768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SeedVR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9464" y="4384548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may redraw details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3400" y="3767328"/>
            <a:ext cx="1600200" cy="14173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53128" y="3858768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FlashVSR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9704" y="4384548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speed baseline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3767328"/>
            <a:ext cx="1600200" cy="14173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3368" y="3858768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LucidVR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9944" y="4384548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quality target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3879" y="3767328"/>
            <a:ext cx="1600200" cy="14173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93607" y="3858768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Reference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0183" y="4384548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if available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12680" y="3767328"/>
            <a:ext cx="1600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95560" y="3986784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0C1A2B"/>
                </a:solidFill>
                <a:latin typeface="Aptos"/>
              </a:rPr>
              <a:t>Decision
readout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195560" y="4407408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60152" y="4343400"/>
            <a:ext cx="97840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80" b="0">
                <a:solidFill>
                  <a:srgbClr val="1C232B"/>
                </a:solidFill>
                <a:latin typeface="Aptos"/>
              </a:rPr>
              <a:t>fidelity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95560" y="4626864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60152" y="4562856"/>
            <a:ext cx="97840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80" b="0">
                <a:solidFill>
                  <a:srgbClr val="1C232B"/>
                </a:solidFill>
                <a:latin typeface="Aptos"/>
              </a:rPr>
              <a:t>temporal stability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95560" y="4846320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60152" y="4782312"/>
            <a:ext cx="97840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80" b="0">
                <a:solidFill>
                  <a:srgbClr val="1C232B"/>
                </a:solidFill>
                <a:latin typeface="Aptos"/>
              </a:rPr>
              <a:t>speed trade-off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92240"/>
            <a:ext cx="3200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270"/>
                </a:solidFill>
                <a:latin typeface="Aptos"/>
              </a:rPr>
              <a:t>LucidVR / executive draft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6627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Current status and open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515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66270"/>
                </a:solidFill>
                <a:latin typeface="Aptos"/>
              </a:rPr>
              <a:t>The project is past basic reproduction; the main remaining work is selecting the teacher and validating sparse-causal acceleration.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97280"/>
            <a:ext cx="1051560" cy="41148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154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91640"/>
            <a:ext cx="2468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0967D"/>
                </a:solidFill>
                <a:latin typeface="Aptos"/>
              </a:rPr>
              <a:t>Current 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" y="2212848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2148840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Corrected Stage1 teacher runs are active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" y="2569464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2505456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48-GPU 89f run: high utilization 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" y="2926080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2862072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16-GPU 17f run: stable utilization with workers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" y="3282696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3218688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v6 Stage2 code and mask design are ready for smoke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417320"/>
            <a:ext cx="3154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691640"/>
            <a:ext cx="2468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E87E3A"/>
                </a:solidFill>
                <a:latin typeface="Aptos"/>
              </a:rPr>
              <a:t>Main risks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7992" y="2212848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4" y="2148840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Stage1 teacher quality must be selected carefully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7992" y="2569464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2584" y="2505456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Stage2 sparse-causal smoke may reveal kernel/shape constraints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07992" y="2926080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2584" y="2862072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Image-video data improves detail but can hurt motion if misaligned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07992" y="3282696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72584" y="3218688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Speed comparisons require fixed benchmark and FPS 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1417320"/>
            <a:ext cx="3154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1691640"/>
            <a:ext cx="2468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3667C7"/>
                </a:solidFill>
                <a:latin typeface="Aptos"/>
              </a:rPr>
              <a:t>Needs / decisions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65592" y="2212848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3" y="2148840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2-GPU test node for v6 smoke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65592" y="2569464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2505456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Final benchmark clips and runtime protocol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65592" y="2926080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3" y="2862072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Decision on preferred teacher checkpoint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65592" y="3282696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3218688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Author confirmation for Stage2 training details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92240"/>
            <a:ext cx="3200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270"/>
                </a:solidFill>
                <a:latin typeface="Aptos"/>
              </a:rPr>
              <a:t>LucidVR / executive draft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6627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Roadmap to a usable LucidVR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207008"/>
            <a:ext cx="1417320" cy="54864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1560" cy="393192"/>
          </a:xfrm>
          <a:prstGeom prst="round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581912"/>
            <a:ext cx="3931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Finish Stage 1 teacher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901952"/>
            <a:ext cx="8046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D5E0EA"/>
                </a:solidFill>
                <a:latin typeface="Aptos"/>
              </a:rPr>
              <a:t>Continue corrected 17f/89f runs, evaluate checkpoints on fixed synthetic and real 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24328"/>
            <a:ext cx="1051560" cy="393192"/>
          </a:xfrm>
          <a:prstGeom prst="roundRect">
            <a:avLst/>
          </a:prstGeom>
          <a:solidFill>
            <a:srgbClr val="2A4158"/>
          </a:solidFill>
          <a:ln w="12700">
            <a:solidFill>
              <a:srgbClr val="485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606040"/>
            <a:ext cx="3931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Validate Stage 2 v6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926080"/>
            <a:ext cx="8046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D5E0EA"/>
                </a:solidFill>
                <a:latin typeface="Aptos"/>
              </a:rPr>
              <a:t>Run 2-GPU smoke for official chunk mask, block-sparse top-k, causal LR projector.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48456"/>
            <a:ext cx="1051560" cy="393192"/>
          </a:xfrm>
          <a:prstGeom prst="roundRect">
            <a:avLst/>
          </a:prstGeom>
          <a:solidFill>
            <a:srgbClr val="2A4158"/>
          </a:solidFill>
          <a:ln w="12700">
            <a:solidFill>
              <a:srgbClr val="485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Then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630168"/>
            <a:ext cx="3931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Train sparse-causal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950208"/>
            <a:ext cx="8046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D5E0EA"/>
                </a:solidFill>
                <a:latin typeface="Aptos"/>
              </a:rPr>
              <a:t>Use selected Stage1 teacher initialization; measure quality loss vs speed gain.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72584"/>
            <a:ext cx="1051560" cy="393192"/>
          </a:xfrm>
          <a:prstGeom prst="roundRect">
            <a:avLst/>
          </a:prstGeom>
          <a:solidFill>
            <a:srgbClr val="2A4158"/>
          </a:solidFill>
          <a:ln w="12700">
            <a:solidFill>
              <a:srgbClr val="485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Final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654296"/>
            <a:ext cx="3931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Distill to one-step LucidVR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974336"/>
            <a:ext cx="8046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D5E0EA"/>
                </a:solidFill>
                <a:latin typeface="Aptos"/>
              </a:rPr>
              <a:t>DMD + flow matching + pixel/LPIPS losses for faster inference and detail preservation.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417320"/>
            <a:ext cx="2971800" cy="210312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3E5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709928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Executive ask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167127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22792" y="2103120"/>
            <a:ext cx="207568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E2EBF3"/>
                </a:solidFill>
                <a:latin typeface="Aptos"/>
              </a:rPr>
              <a:t>Maintain multi-GPU windows for teacher and Stage2 runs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2478023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2792" y="2414015"/>
            <a:ext cx="207568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E2EBF3"/>
                </a:solidFill>
                <a:latin typeface="Aptos"/>
              </a:rPr>
              <a:t>Use fixed benchmark clips for quality and speed tracking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2788919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1"/>
            <a:ext cx="207568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E2EBF3"/>
                </a:solidFill>
                <a:latin typeface="Aptos"/>
              </a:rPr>
              <a:t>Allow short iteration cycles while Stage2 is being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20" b="1">
                <a:solidFill>
                  <a:srgbClr val="DCE7F0"/>
                </a:solidFill>
                <a:latin typeface="Aptos"/>
              </a:rPr>
              <a:t>Expected outcome: a fast, streaming-friendly VSR model adapted to internal data distribution, with stronger restoration fidelity than generic video generation baselines.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B4C2C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