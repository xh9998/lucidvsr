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0312"/>
            <a:ext cx="2926080" cy="23774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850" b="1">
                <a:solidFill>
                  <a:srgbClr val="646C74"/>
                </a:solidFill>
                <a:latin typeface="Aptos"/>
              </a:defRPr>
            </a:pPr>
            <a:r>
              <a:t>LucidVR | Video SR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30352"/>
            <a:ext cx="13807440" cy="13716"/>
          </a:xfrm>
          <a:prstGeom prst="rect">
            <a:avLst/>
          </a:prstGeom>
          <a:solidFill>
            <a:srgbClr val="DE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01583"/>
            <a:ext cx="14630400" cy="128016"/>
          </a:xfrm>
          <a:prstGeom prst="rect">
            <a:avLst/>
          </a:prstGeom>
          <a:solidFill>
            <a:srgbClr val="E2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4754880" cy="6583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3800" b="1">
                <a:solidFill>
                  <a:srgbClr val="2A3037"/>
                </a:solidFill>
                <a:latin typeface="Aptos"/>
              </a:defRPr>
            </a:pPr>
            <a:r>
              <a:t>LucidVR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572768"/>
            <a:ext cx="1124712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800" b="1">
                <a:solidFill>
                  <a:srgbClr val="658496"/>
                </a:solidFill>
                <a:latin typeface="Aptos"/>
              </a:defRPr>
            </a:pPr>
            <a:r>
              <a:t>Efficient Video Super-Resolution for Real Degraded Inputs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6309360" cy="2331720"/>
          </a:xfrm>
          <a:prstGeom prst="roundRect">
            <a:avLst/>
          </a:prstGeom>
          <a:solidFill>
            <a:srgbClr val="E1ECE9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587752"/>
            <a:ext cx="2743200" cy="2926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2A3037"/>
                </a:solidFill>
                <a:latin typeface="Aptos"/>
              </a:defRPr>
            </a:pPr>
            <a:r>
              <a:t>Executive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944368"/>
            <a:ext cx="5715000" cy="1417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171450" hanging="85725">
              <a:spcAft>
                <a:spcPts val="500"/>
              </a:spcAft>
              <a:defRPr sz="1250">
                <a:solidFill>
                  <a:srgbClr val="2A3037"/>
                </a:solidFill>
                <a:latin typeface="Aptos"/>
              </a:defRPr>
            </a:pPr>
            <a:r>
              <a:t>Generic video generators can hallucinate identity or object changes.</a:t>
            </a:r>
          </a:p>
          <a:p>
            <a:pPr marL="171450" hanging="85725">
              <a:spcAft>
                <a:spcPts val="500"/>
              </a:spcAft>
              <a:defRPr sz="1250">
                <a:solidFill>
                  <a:srgbClr val="2A3037"/>
                </a:solidFill>
                <a:latin typeface="Aptos"/>
              </a:defRPr>
            </a:pPr>
            <a:r>
              <a:t>A production VSR model needs faithful restoration, temporal stability, and predictable latency.</a:t>
            </a:r>
          </a:p>
          <a:p>
            <a:pPr marL="171450" hanging="85725">
              <a:spcAft>
                <a:spcPts val="500"/>
              </a:spcAft>
              <a:defRPr sz="1250">
                <a:solidFill>
                  <a:srgbClr val="2A3037"/>
                </a:solidFill>
                <a:latin typeface="Aptos"/>
              </a:defRPr>
            </a:pPr>
            <a:r>
              <a:t>LucidVR follows the FlashVSR efficiency path, then adapts it to internal data and realistic degradations.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331720"/>
            <a:ext cx="6080760" cy="2331720"/>
          </a:xfrm>
          <a:prstGeom prst="roundRect">
            <a:avLst/>
          </a:prstGeom>
          <a:solidFill>
            <a:srgbClr val="F4EEE2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587752"/>
            <a:ext cx="2743200" cy="2926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2A3037"/>
                </a:solidFill>
                <a:latin typeface="Aptos"/>
              </a:defRPr>
            </a:pPr>
            <a:r>
              <a:t>Target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944368"/>
            <a:ext cx="5486400" cy="1417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171450" hanging="85725">
              <a:spcAft>
                <a:spcPts val="500"/>
              </a:spcAft>
              <a:defRPr sz="1250">
                <a:solidFill>
                  <a:srgbClr val="2A3037"/>
                </a:solidFill>
                <a:latin typeface="Aptos"/>
              </a:defRPr>
            </a:pPr>
            <a:r>
              <a:t>Faster than general generative baselines for short VSR clips.</a:t>
            </a:r>
          </a:p>
          <a:p>
            <a:pPr marL="171450" hanging="85725">
              <a:spcAft>
                <a:spcPts val="500"/>
              </a:spcAft>
              <a:defRPr sz="1250">
                <a:solidFill>
                  <a:srgbClr val="2A3037"/>
                </a:solidFill>
                <a:latin typeface="Aptos"/>
              </a:defRPr>
            </a:pPr>
            <a:r>
              <a:t>Stable identity and object preservation under real degradation.</a:t>
            </a:r>
          </a:p>
          <a:p>
            <a:pPr marL="171450" hanging="85725">
              <a:spcAft>
                <a:spcPts val="500"/>
              </a:spcAft>
              <a:defRPr sz="1250">
                <a:solidFill>
                  <a:srgbClr val="2A3037"/>
                </a:solidFill>
                <a:latin typeface="Aptos"/>
              </a:defRPr>
            </a:pPr>
            <a:r>
              <a:t>Three-stage path: teacher quality, sparse-causal acceleration, one-step distillation.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5623560"/>
            <a:ext cx="2926080" cy="932688"/>
          </a:xfrm>
          <a:prstGeom prst="roundRect">
            <a:avLst/>
          </a:prstGeom>
          <a:solidFill>
            <a:srgbClr val="E2EAEC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5733288"/>
            <a:ext cx="2651760" cy="310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2000" b="1">
                <a:solidFill>
                  <a:srgbClr val="2A3037"/>
                </a:solidFill>
                <a:latin typeface="Aptos"/>
              </a:defRPr>
            </a:pPr>
            <a:r>
              <a:t>Stage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6099048"/>
            <a:ext cx="265176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80" b="0">
                <a:solidFill>
                  <a:srgbClr val="646C74"/>
                </a:solidFill>
                <a:latin typeface="Aptos"/>
              </a:defRPr>
            </a:pPr>
            <a:r>
              <a:t>teacher adaptation active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5623560"/>
            <a:ext cx="2926080" cy="932688"/>
          </a:xfrm>
          <a:prstGeom prst="roundRect">
            <a:avLst/>
          </a:prstGeom>
          <a:solidFill>
            <a:srgbClr val="E8EEE5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9704" y="5733288"/>
            <a:ext cx="2651760" cy="310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2000" b="1">
                <a:solidFill>
                  <a:srgbClr val="2A3037"/>
                </a:solidFill>
                <a:latin typeface="Aptos"/>
              </a:defRPr>
            </a:pPr>
            <a:r>
              <a:t>Stage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4" y="6099048"/>
            <a:ext cx="265176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80" b="0">
                <a:solidFill>
                  <a:srgbClr val="646C74"/>
                </a:solidFill>
                <a:latin typeface="Aptos"/>
              </a:defRPr>
            </a:pPr>
            <a:r>
              <a:t>v6 smoke passed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5623560"/>
            <a:ext cx="2926080" cy="932688"/>
          </a:xfrm>
          <a:prstGeom prst="roundRect">
            <a:avLst/>
          </a:prstGeom>
          <a:solidFill>
            <a:srgbClr val="F1E4DE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2983" y="5733288"/>
            <a:ext cx="2651760" cy="310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2000" b="1">
                <a:solidFill>
                  <a:srgbClr val="2A3037"/>
                </a:solidFill>
                <a:latin typeface="Aptos"/>
              </a:defRPr>
            </a:pPr>
            <a:r>
              <a:t>Stage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72983" y="6099048"/>
            <a:ext cx="265176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80" b="0">
                <a:solidFill>
                  <a:srgbClr val="646C74"/>
                </a:solidFill>
                <a:latin typeface="Aptos"/>
              </a:defRPr>
            </a:pPr>
            <a:r>
              <a:t>distillation plan next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37960"/>
            <a:ext cx="25603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1100" b="0">
                <a:solidFill>
                  <a:srgbClr val="646C74"/>
                </a:solidFill>
                <a:latin typeface="Aptos"/>
              </a:defRPr>
            </a:pPr>
            <a:r>
              <a:t>April 30,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0312"/>
            <a:ext cx="2926080" cy="23774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850" b="1">
                <a:solidFill>
                  <a:srgbClr val="646C74"/>
                </a:solidFill>
                <a:latin typeface="Aptos"/>
              </a:defRPr>
            </a:pPr>
            <a:r>
              <a:t>LucidVR | Video SR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30352"/>
            <a:ext cx="13807440" cy="13716"/>
          </a:xfrm>
          <a:prstGeom prst="rect">
            <a:avLst/>
          </a:prstGeom>
          <a:solidFill>
            <a:srgbClr val="DE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01583"/>
            <a:ext cx="14630400" cy="128016"/>
          </a:xfrm>
          <a:prstGeom prst="rect">
            <a:avLst/>
          </a:prstGeom>
          <a:solidFill>
            <a:srgbClr val="E2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3533120" cy="6583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900" b="1">
                <a:solidFill>
                  <a:srgbClr val="2A3037"/>
                </a:solidFill>
                <a:latin typeface="Aptos"/>
              </a:defRPr>
            </a:pPr>
            <a:r>
              <a:t>Why generic video generation is not enough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280160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0">
                <a:solidFill>
                  <a:srgbClr val="646C74"/>
                </a:solidFill>
                <a:latin typeface="Aptos"/>
              </a:defRPr>
            </a:pPr>
            <a:r>
              <a:t>The first comparison should establish the restoration requirement: output must improve detail without changing content.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11680"/>
            <a:ext cx="4160520" cy="2971800"/>
          </a:xfrm>
          <a:prstGeom prst="roundRect">
            <a:avLst/>
          </a:prstGeom>
          <a:solidFill>
            <a:srgbClr val="F4EEE2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2267712"/>
            <a:ext cx="347472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800" b="1">
                <a:solidFill>
                  <a:srgbClr val="2A3037"/>
                </a:solidFill>
                <a:latin typeface="Aptos"/>
              </a:defRPr>
            </a:pPr>
            <a:r>
              <a:t>LQ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3182112"/>
            <a:ext cx="324612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0">
                <a:solidFill>
                  <a:srgbClr val="646C74"/>
                </a:solidFill>
                <a:latin typeface="Aptos"/>
              </a:defRPr>
            </a:pPr>
            <a:r>
              <a:t>Drop visual example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334256"/>
            <a:ext cx="36576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00" b="0">
                <a:solidFill>
                  <a:srgbClr val="646C74"/>
                </a:solidFill>
                <a:latin typeface="Aptos"/>
              </a:defRPr>
            </a:pPr>
            <a:r>
              <a:t>real degraded frame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67528" y="2011680"/>
            <a:ext cx="4160520" cy="2971800"/>
          </a:xfrm>
          <a:prstGeom prst="roundRect">
            <a:avLst/>
          </a:prstGeom>
          <a:solidFill>
            <a:srgbClr val="F1E4DE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96128" y="2267712"/>
            <a:ext cx="347472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800" b="1">
                <a:solidFill>
                  <a:srgbClr val="2A3037"/>
                </a:solidFill>
                <a:latin typeface="Aptos"/>
              </a:defRPr>
            </a:pPr>
            <a:r>
              <a:t>SeedVR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9008" y="3182112"/>
            <a:ext cx="324612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0">
                <a:solidFill>
                  <a:srgbClr val="646C74"/>
                </a:solidFill>
                <a:latin typeface="Aptos"/>
              </a:defRPr>
            </a:pPr>
            <a:r>
              <a:t>Drop visual example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4334256"/>
            <a:ext cx="36576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00" b="0">
                <a:solidFill>
                  <a:srgbClr val="646C74"/>
                </a:solidFill>
                <a:latin typeface="Aptos"/>
              </a:defRPr>
            </a:pPr>
            <a:r>
              <a:t>strong generation, possible drift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85248" y="2011680"/>
            <a:ext cx="4160520" cy="2971800"/>
          </a:xfrm>
          <a:prstGeom prst="roundRect">
            <a:avLst/>
          </a:prstGeom>
          <a:solidFill>
            <a:srgbClr val="E1ECE9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13848" y="2267712"/>
            <a:ext cx="347472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800" b="1">
                <a:solidFill>
                  <a:srgbClr val="2A3037"/>
                </a:solidFill>
                <a:latin typeface="Aptos"/>
              </a:defRPr>
            </a:pPr>
            <a:r>
              <a:t>LucidVR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96728" y="3182112"/>
            <a:ext cx="324612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0">
                <a:solidFill>
                  <a:srgbClr val="646C74"/>
                </a:solidFill>
                <a:latin typeface="Aptos"/>
              </a:defRPr>
            </a:pPr>
            <a:r>
              <a:t>Drop visual example 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334256"/>
            <a:ext cx="36576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00" b="0">
                <a:solidFill>
                  <a:srgbClr val="646C74"/>
                </a:solidFill>
                <a:latin typeface="Aptos"/>
              </a:defRPr>
            </a:pPr>
            <a:r>
              <a:t>faithful restoration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83480" y="3493008"/>
            <a:ext cx="338328" cy="0"/>
          </a:xfrm>
          <a:prstGeom prst="line">
            <a:avLst/>
          </a:prstGeom>
          <a:ln w="17780">
            <a:solidFill>
              <a:srgbClr val="B98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601200" y="3493008"/>
            <a:ext cx="347472" cy="0"/>
          </a:xfrm>
          <a:prstGeom prst="line">
            <a:avLst/>
          </a:prstGeom>
          <a:ln w="17780">
            <a:solidFill>
              <a:srgbClr val="6891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4400" y="5532120"/>
            <a:ext cx="12801600" cy="1143000"/>
          </a:xfrm>
          <a:prstGeom prst="roundRect">
            <a:avLst/>
          </a:prstGeom>
          <a:solidFill>
            <a:srgbClr val="E2EAEC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5742432"/>
            <a:ext cx="32004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2A3037"/>
                </a:solidFill>
                <a:latin typeface="Aptos"/>
              </a:defRPr>
            </a:pPr>
            <a:r>
              <a:t>Decision criterion for VSR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5650992"/>
            <a:ext cx="8961120" cy="685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171450" hanging="85725">
              <a:spcAft>
                <a:spcPts val="500"/>
              </a:spcAft>
              <a:defRPr sz="1150">
                <a:solidFill>
                  <a:srgbClr val="2A3037"/>
                </a:solidFill>
                <a:latin typeface="Aptos"/>
              </a:defRPr>
            </a:pPr>
            <a:r>
              <a:t>The model should preserve identity, objects, camera motion, and temporal continuity.</a:t>
            </a:r>
          </a:p>
          <a:p>
            <a:pPr marL="171450" hanging="85725">
              <a:spcAft>
                <a:spcPts val="500"/>
              </a:spcAft>
              <a:defRPr sz="1150">
                <a:solidFill>
                  <a:srgbClr val="2A3037"/>
                </a:solidFill>
                <a:latin typeface="Aptos"/>
              </a:defRPr>
            </a:pPr>
            <a:r>
              <a:t>Visual quality is not enough if the output becomes a newly generated video.</a:t>
            </a:r>
          </a:p>
          <a:p>
            <a:pPr marL="171450" hanging="85725">
              <a:spcAft>
                <a:spcPts val="500"/>
              </a:spcAft>
              <a:defRPr sz="1150">
                <a:solidFill>
                  <a:srgbClr val="2A3037"/>
                </a:solidFill>
                <a:latin typeface="Aptos"/>
              </a:defRPr>
            </a:pPr>
            <a:r>
              <a:t>This motivates a VSR-specialized model instead of using a general video generator directly.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0312"/>
            <a:ext cx="2926080" cy="23774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850" b="1">
                <a:solidFill>
                  <a:srgbClr val="646C74"/>
                </a:solidFill>
                <a:latin typeface="Aptos"/>
              </a:defRPr>
            </a:pPr>
            <a:r>
              <a:t>LucidVR | Video SR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30352"/>
            <a:ext cx="13807440" cy="13716"/>
          </a:xfrm>
          <a:prstGeom prst="rect">
            <a:avLst/>
          </a:prstGeom>
          <a:solidFill>
            <a:srgbClr val="DE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01583"/>
            <a:ext cx="14630400" cy="128016"/>
          </a:xfrm>
          <a:prstGeom prst="rect">
            <a:avLst/>
          </a:prstGeom>
          <a:solidFill>
            <a:srgbClr val="E2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3533120" cy="6583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900" b="1">
                <a:solidFill>
                  <a:srgbClr val="2A3037"/>
                </a:solidFill>
                <a:latin typeface="Aptos"/>
              </a:defRPr>
            </a:pPr>
            <a:r>
              <a:t>Target system: fast, faithful, predictable VSR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280160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0">
                <a:solidFill>
                  <a:srgbClr val="646C74"/>
                </a:solidFill>
                <a:latin typeface="Aptos"/>
              </a:defRPr>
            </a:pPr>
            <a:r>
              <a:t>LucidVR is positioned as a restoration system, not an open-ended video generator.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148840"/>
            <a:ext cx="3749039" cy="1508760"/>
          </a:xfrm>
          <a:prstGeom prst="roundRect">
            <a:avLst/>
          </a:prstGeom>
          <a:solidFill>
            <a:srgbClr val="F4EEE2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95728"/>
            <a:ext cx="3337560" cy="2926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800" b="1">
                <a:solidFill>
                  <a:srgbClr val="2A3037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07208"/>
            <a:ext cx="3246120" cy="4754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50" b="0">
                <a:solidFill>
                  <a:srgbClr val="646C74"/>
                </a:solidFill>
                <a:latin typeface="Aptos"/>
              </a:defRPr>
            </a:pPr>
            <a:r>
              <a:t>Low-res / degraded video</a:t>
            </a:r>
            <a:br/>
            <a:r>
              <a:t>8 fps test protocol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54880" y="2907792"/>
            <a:ext cx="548640" cy="0"/>
          </a:xfrm>
          <a:prstGeom prst="line">
            <a:avLst/>
          </a:prstGeom>
          <a:ln w="20320">
            <a:solidFill>
              <a:srgbClr val="658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40680" y="2148840"/>
            <a:ext cx="3749039" cy="1508760"/>
          </a:xfrm>
          <a:prstGeom prst="roundRect">
            <a:avLst/>
          </a:prstGeom>
          <a:solidFill>
            <a:srgbClr val="E1ECE9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0" y="2395728"/>
            <a:ext cx="3337560" cy="2926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800" b="1">
                <a:solidFill>
                  <a:srgbClr val="2A3037"/>
                </a:solidFill>
                <a:latin typeface="Aptos"/>
              </a:defRPr>
            </a:pPr>
            <a:r>
              <a:t>LucidVR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807208"/>
            <a:ext cx="3246120" cy="4754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50" b="0">
                <a:solidFill>
                  <a:srgbClr val="646C74"/>
                </a:solidFill>
                <a:latin typeface="Aptos"/>
              </a:defRPr>
            </a:pPr>
            <a:r>
              <a:t>VSR-specialized diffusion model</a:t>
            </a:r>
            <a:br/>
            <a:r>
              <a:t>internal-data adaptation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35440" y="2907792"/>
            <a:ext cx="548640" cy="0"/>
          </a:xfrm>
          <a:prstGeom prst="line">
            <a:avLst/>
          </a:prstGeom>
          <a:ln w="20320">
            <a:solidFill>
              <a:srgbClr val="658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921240" y="2148840"/>
            <a:ext cx="3749039" cy="1508760"/>
          </a:xfrm>
          <a:prstGeom prst="roundRect">
            <a:avLst/>
          </a:prstGeom>
          <a:solidFill>
            <a:srgbClr val="E2EAEC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04120" y="2395728"/>
            <a:ext cx="3337560" cy="2926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800" b="1">
                <a:solidFill>
                  <a:srgbClr val="2A3037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2807208"/>
            <a:ext cx="3246120" cy="4754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50" b="0">
                <a:solidFill>
                  <a:srgbClr val="646C74"/>
                </a:solidFill>
                <a:latin typeface="Aptos"/>
              </a:defRPr>
            </a:pPr>
            <a:r>
              <a:t>Higher-resolution video</a:t>
            </a:r>
            <a:br/>
            <a:r>
              <a:t>content-preserving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4617720"/>
            <a:ext cx="5806440" cy="822960"/>
          </a:xfrm>
          <a:prstGeom prst="roundRect">
            <a:avLst/>
          </a:prstGeom>
          <a:solidFill>
            <a:srgbClr val="E1ECE9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1288" y="4800600"/>
            <a:ext cx="141732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1">
                <a:solidFill>
                  <a:srgbClr val="2A3037"/>
                </a:solidFill>
                <a:latin typeface="Aptos"/>
              </a:defRPr>
            </a:pPr>
            <a:r>
              <a:t>Fidelity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800600"/>
            <a:ext cx="384048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646C74"/>
                </a:solidFill>
                <a:latin typeface="Aptos"/>
              </a:defRPr>
            </a:pPr>
            <a:r>
              <a:t>preserve faces, text, objects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4617720"/>
            <a:ext cx="5806440" cy="822960"/>
          </a:xfrm>
          <a:prstGeom prst="roundRect">
            <a:avLst/>
          </a:prstGeom>
          <a:solidFill>
            <a:srgbClr val="E2EAEC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4800600"/>
            <a:ext cx="141732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1">
                <a:solidFill>
                  <a:srgbClr val="2A3037"/>
                </a:solidFill>
                <a:latin typeface="Aptos"/>
              </a:defRPr>
            </a:pPr>
            <a:r>
              <a:t>Stability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800600"/>
            <a:ext cx="384048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646C74"/>
                </a:solidFill>
                <a:latin typeface="Aptos"/>
              </a:defRPr>
            </a:pPr>
            <a:r>
              <a:t>no frame-to-frame generation drift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5760720"/>
            <a:ext cx="5806440" cy="822960"/>
          </a:xfrm>
          <a:prstGeom prst="roundRect">
            <a:avLst/>
          </a:prstGeom>
          <a:solidFill>
            <a:srgbClr val="E8EEE5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1288" y="5943600"/>
            <a:ext cx="141732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1">
                <a:solidFill>
                  <a:srgbClr val="2A3037"/>
                </a:solidFill>
                <a:latin typeface="Aptos"/>
              </a:defRPr>
            </a:pPr>
            <a:r>
              <a:t>Latency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5943600"/>
            <a:ext cx="384048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646C74"/>
                </a:solidFill>
                <a:latin typeface="Aptos"/>
              </a:defRPr>
            </a:pPr>
            <a:r>
              <a:t>practical inference path via FlashVSR stages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60920" y="5760720"/>
            <a:ext cx="5806440" cy="822960"/>
          </a:xfrm>
          <a:prstGeom prst="roundRect">
            <a:avLst/>
          </a:prstGeom>
          <a:solidFill>
            <a:srgbClr val="F1E4DE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62088" y="5943600"/>
            <a:ext cx="141732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1">
                <a:solidFill>
                  <a:srgbClr val="2A3037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5943600"/>
            <a:ext cx="384048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646C74"/>
                </a:solidFill>
                <a:latin typeface="Aptos"/>
              </a:defRPr>
            </a:pPr>
            <a:r>
              <a:t>reproducible degradation and fixed test 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0312"/>
            <a:ext cx="2926080" cy="23774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850" b="1">
                <a:solidFill>
                  <a:srgbClr val="646C74"/>
                </a:solidFill>
                <a:latin typeface="Aptos"/>
              </a:defRPr>
            </a:pPr>
            <a:r>
              <a:t>LucidVR | Video SR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30352"/>
            <a:ext cx="13807440" cy="13716"/>
          </a:xfrm>
          <a:prstGeom prst="rect">
            <a:avLst/>
          </a:prstGeom>
          <a:solidFill>
            <a:srgbClr val="DE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01583"/>
            <a:ext cx="14630400" cy="128016"/>
          </a:xfrm>
          <a:prstGeom prst="rect">
            <a:avLst/>
          </a:prstGeom>
          <a:solidFill>
            <a:srgbClr val="E2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3533120" cy="6583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900" b="1">
                <a:solidFill>
                  <a:srgbClr val="2A3037"/>
                </a:solidFill>
                <a:latin typeface="Aptos"/>
              </a:defRPr>
            </a:pPr>
            <a:r>
              <a:t>Technical blueprint: FlashVSR three-stage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280160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0">
                <a:solidFill>
                  <a:srgbClr val="646C74"/>
                </a:solidFill>
                <a:latin typeface="Aptos"/>
              </a:defRPr>
            </a:pPr>
            <a:r>
              <a:t>The project uses FlashVSR as the efficiency blueprint, while adapting the teacher to internal data and realistic degradation.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2743200" cy="2331720"/>
          </a:xfrm>
          <a:prstGeom prst="roundRect">
            <a:avLst/>
          </a:prstGeom>
          <a:solidFill>
            <a:srgbClr val="F4EEE2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242316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2A3037"/>
                </a:solidFill>
                <a:latin typeface="Aptos"/>
              </a:defRPr>
            </a:pPr>
            <a: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16352"/>
            <a:ext cx="228600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50" b="0">
                <a:solidFill>
                  <a:srgbClr val="646C74"/>
                </a:solidFill>
                <a:latin typeface="Aptos"/>
              </a:defRPr>
            </a:pPr>
            <a:r>
              <a:t>Wan2.1-1.3B backbone</a:t>
            </a:r>
            <a:br/>
            <a:r>
              <a:t>LoRA adaptation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66160" y="3218688"/>
            <a:ext cx="155448" cy="0"/>
          </a:xfrm>
          <a:prstGeom prst="line">
            <a:avLst/>
          </a:prstGeom>
          <a:ln w="17780">
            <a:solidFill>
              <a:srgbClr val="658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86200" y="2057400"/>
            <a:ext cx="2743200" cy="2331720"/>
          </a:xfrm>
          <a:prstGeom prst="roundRect">
            <a:avLst/>
          </a:prstGeom>
          <a:solidFill>
            <a:srgbClr val="E1ECE9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2331720"/>
            <a:ext cx="242316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2A3037"/>
                </a:solidFill>
                <a:latin typeface="Aptos"/>
              </a:defRPr>
            </a:pPr>
            <a:r>
              <a:t>Stage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816352"/>
            <a:ext cx="228600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50" b="0">
                <a:solidFill>
                  <a:srgbClr val="646C74"/>
                </a:solidFill>
                <a:latin typeface="Aptos"/>
              </a:defRPr>
            </a:pPr>
            <a:r>
              <a:t>Full-attention teacher</a:t>
            </a:r>
            <a:br/>
            <a:r>
              <a:t>video-image joint SR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629400" y="3218688"/>
            <a:ext cx="155448" cy="0"/>
          </a:xfrm>
          <a:prstGeom prst="line">
            <a:avLst/>
          </a:prstGeom>
          <a:ln w="17780">
            <a:solidFill>
              <a:srgbClr val="658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949440" y="2057400"/>
            <a:ext cx="2743200" cy="2331720"/>
          </a:xfrm>
          <a:prstGeom prst="roundRect">
            <a:avLst/>
          </a:prstGeom>
          <a:solidFill>
            <a:srgbClr val="E2EAEC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2331720"/>
            <a:ext cx="242316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2A3037"/>
                </a:solidFill>
                <a:latin typeface="Aptos"/>
              </a:defRPr>
            </a:pPr>
            <a:r>
              <a:t>Stage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816352"/>
            <a:ext cx="228600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50" b="0">
                <a:solidFill>
                  <a:srgbClr val="646C74"/>
                </a:solidFill>
                <a:latin typeface="Aptos"/>
              </a:defRPr>
            </a:pPr>
            <a:r>
              <a:t>Sparse-causal DiT</a:t>
            </a:r>
            <a:br/>
            <a:r>
              <a:t>causal LR Proj-In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92640" y="3218688"/>
            <a:ext cx="155448" cy="0"/>
          </a:xfrm>
          <a:prstGeom prst="line">
            <a:avLst/>
          </a:prstGeom>
          <a:ln w="17780">
            <a:solidFill>
              <a:srgbClr val="658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012680" y="2057400"/>
            <a:ext cx="2743200" cy="2331720"/>
          </a:xfrm>
          <a:prstGeom prst="roundRect">
            <a:avLst/>
          </a:prstGeom>
          <a:solidFill>
            <a:srgbClr val="F1E4DE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0" y="2331720"/>
            <a:ext cx="242316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2A3037"/>
                </a:solidFill>
                <a:latin typeface="Aptos"/>
              </a:defRPr>
            </a:pPr>
            <a:r>
              <a:t>Stage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2816352"/>
            <a:ext cx="228600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50" b="0">
                <a:solidFill>
                  <a:srgbClr val="646C74"/>
                </a:solidFill>
                <a:latin typeface="Aptos"/>
              </a:defRPr>
            </a:pPr>
            <a:r>
              <a:t>One-step distillation</a:t>
            </a:r>
            <a:br/>
            <a:r>
              <a:t>pixel-level loss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074920"/>
            <a:ext cx="12801600" cy="1325880"/>
          </a:xfrm>
          <a:prstGeom prst="roundRect">
            <a:avLst/>
          </a:prstGeom>
          <a:solidFill>
            <a:srgbClr val="E8EEE5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5330952"/>
            <a:ext cx="2926080" cy="2926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2A3037"/>
                </a:solidFill>
                <a:latin typeface="Aptos"/>
              </a:defRPr>
            </a:pPr>
            <a:r>
              <a:t>LucidVR adaptation focus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5230368"/>
            <a:ext cx="9235440" cy="7315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171450" hanging="85725">
              <a:spcAft>
                <a:spcPts val="500"/>
              </a:spcAft>
              <a:defRPr sz="1150">
                <a:solidFill>
                  <a:srgbClr val="2A3037"/>
                </a:solidFill>
                <a:latin typeface="Aptos"/>
              </a:defRPr>
            </a:pPr>
            <a:r>
              <a:t>Stage 1 teacher quality is adapted on Yubari / Takano / image data with controlled degradation.</a:t>
            </a:r>
          </a:p>
          <a:p>
            <a:pPr marL="171450" hanging="85725">
              <a:spcAft>
                <a:spcPts val="500"/>
              </a:spcAft>
              <a:defRPr sz="1150">
                <a:solidFill>
                  <a:srgbClr val="2A3037"/>
                </a:solidFill>
                <a:latin typeface="Aptos"/>
              </a:defRPr>
            </a:pPr>
            <a:r>
              <a:t>Stage 2 is treated as an acceleration adaptation, not a replacement of the teacher objective.</a:t>
            </a:r>
          </a:p>
          <a:p>
            <a:pPr marL="171450" hanging="85725">
              <a:spcAft>
                <a:spcPts val="500"/>
              </a:spcAft>
              <a:defRPr sz="1150">
                <a:solidFill>
                  <a:srgbClr val="2A3037"/>
                </a:solidFill>
                <a:latin typeface="Aptos"/>
              </a:defRPr>
            </a:pPr>
            <a:r>
              <a:t>Stage 3 aims to recover speed while preserving temporal consistency and pixel-level details.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0312"/>
            <a:ext cx="2926080" cy="23774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850" b="1">
                <a:solidFill>
                  <a:srgbClr val="646C74"/>
                </a:solidFill>
                <a:latin typeface="Aptos"/>
              </a:defRPr>
            </a:pPr>
            <a:r>
              <a:t>LucidVR | Video SR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30352"/>
            <a:ext cx="13807440" cy="13716"/>
          </a:xfrm>
          <a:prstGeom prst="rect">
            <a:avLst/>
          </a:prstGeom>
          <a:solidFill>
            <a:srgbClr val="DE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01583"/>
            <a:ext cx="14630400" cy="128016"/>
          </a:xfrm>
          <a:prstGeom prst="rect">
            <a:avLst/>
          </a:prstGeom>
          <a:solidFill>
            <a:srgbClr val="E2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3533120" cy="6583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900" b="1">
                <a:solidFill>
                  <a:srgbClr val="2A3037"/>
                </a:solidFill>
                <a:latin typeface="Aptos"/>
              </a:defRPr>
            </a:pPr>
            <a:r>
              <a:t>Stage 1 architecture: internal-data teacher adaptation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280160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0">
                <a:solidFill>
                  <a:srgbClr val="646C74"/>
                </a:solidFill>
                <a:latin typeface="Aptos"/>
              </a:defRPr>
            </a:pPr>
            <a:r>
              <a:t>The current clean Stage 1 path aligns LQ conditioning and DiT tokens before moving to sparse-causal Stage 2.</a:t>
            </a:r>
          </a:p>
        </p:txBody>
      </p:sp>
      <p:pic>
        <p:nvPicPr>
          <p:cNvPr id="7" name="Picture 6" descr="lucidvr_architecture_generated_202604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74519"/>
            <a:ext cx="7680960" cy="432283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915400" y="1874519"/>
            <a:ext cx="4892040" cy="4389120"/>
          </a:xfrm>
          <a:prstGeom prst="roundRect">
            <a:avLst/>
          </a:prstGeom>
          <a:solidFill>
            <a:srgbClr val="E1ECE9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7152" y="2148840"/>
            <a:ext cx="4297680" cy="310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1">
                <a:solidFill>
                  <a:srgbClr val="2A3037"/>
                </a:solidFill>
                <a:latin typeface="Aptos"/>
              </a:defRPr>
            </a:pPr>
            <a:r>
              <a:t>Key implementation choices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7152" y="2651760"/>
            <a:ext cx="4206240" cy="2606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171450" hanging="85725">
              <a:spcAft>
                <a:spcPts val="500"/>
              </a:spcAft>
              <a:defRPr sz="1130">
                <a:solidFill>
                  <a:srgbClr val="2A3037"/>
                </a:solidFill>
                <a:latin typeface="Aptos"/>
              </a:defRPr>
            </a:pPr>
            <a:r>
              <a:t>Non-streaming aligned LR Proj-In for Stage 1: first frame is compressed into the first latent block instead of being dropped.</a:t>
            </a:r>
          </a:p>
          <a:p>
            <a:pPr marL="171450" hanging="85725">
              <a:spcAft>
                <a:spcPts val="500"/>
              </a:spcAft>
              <a:defRPr sz="1130">
                <a:solidFill>
                  <a:srgbClr val="2A3037"/>
                </a:solidFill>
                <a:latin typeface="Aptos"/>
              </a:defRPr>
            </a:pPr>
            <a:r>
              <a:t>Video branch and image pseudo-video branch are kept separated until latent/token packing.</a:t>
            </a:r>
          </a:p>
          <a:p>
            <a:pPr marL="171450" hanging="85725">
              <a:spcAft>
                <a:spcPts val="500"/>
              </a:spcAft>
              <a:defRPr sz="1130">
                <a:solidFill>
                  <a:srgbClr val="2A3037"/>
                </a:solidFill>
                <a:latin typeface="Aptos"/>
              </a:defRPr>
            </a:pPr>
            <a:r>
              <a:t>Aliyun-style degradation generates 1/4 LQ, then inference uses x4 bicubic input upscale.</a:t>
            </a:r>
          </a:p>
          <a:p>
            <a:pPr marL="171450" hanging="85725">
              <a:spcAft>
                <a:spcPts val="500"/>
              </a:spcAft>
              <a:defRPr sz="1130">
                <a:solidFill>
                  <a:srgbClr val="2A3037"/>
                </a:solidFill>
                <a:latin typeface="Aptos"/>
              </a:defRPr>
            </a:pPr>
            <a:r>
              <a:t>Color correction is enabled in current inference comparisons.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5623560"/>
            <a:ext cx="4892040" cy="658368"/>
          </a:xfrm>
          <a:prstGeom prst="roundRect">
            <a:avLst/>
          </a:prstGeom>
          <a:solidFill>
            <a:srgbClr val="F4EEE2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5797296"/>
            <a:ext cx="4434840" cy="23774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050" b="0">
                <a:solidFill>
                  <a:srgbClr val="646C74"/>
                </a:solidFill>
                <a:latin typeface="Aptos"/>
              </a:defRPr>
            </a:pPr>
            <a:r>
              <a:t>Current correct Stage 1 runs: v5.3.6 17f and v5.3.5 89f aligned non-streaming projector.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0312"/>
            <a:ext cx="2926080" cy="23774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850" b="1">
                <a:solidFill>
                  <a:srgbClr val="646C74"/>
                </a:solidFill>
                <a:latin typeface="Aptos"/>
              </a:defRPr>
            </a:pPr>
            <a:r>
              <a:t>LucidVR | Video SR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30352"/>
            <a:ext cx="13807440" cy="13716"/>
          </a:xfrm>
          <a:prstGeom prst="rect">
            <a:avLst/>
          </a:prstGeom>
          <a:solidFill>
            <a:srgbClr val="DE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01583"/>
            <a:ext cx="14630400" cy="128016"/>
          </a:xfrm>
          <a:prstGeom prst="rect">
            <a:avLst/>
          </a:prstGeom>
          <a:solidFill>
            <a:srgbClr val="E2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3533120" cy="6583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900" b="1">
                <a:solidFill>
                  <a:srgbClr val="2A3037"/>
                </a:solidFill>
                <a:latin typeface="Aptos"/>
              </a:defRPr>
            </a:pPr>
            <a:r>
              <a:t>Stage 1 experiment matrix: what each branch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280160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0">
                <a:solidFill>
                  <a:srgbClr val="646C74"/>
                </a:solidFill>
                <a:latin typeface="Aptos"/>
              </a:defRPr>
            </a:pPr>
            <a:r>
              <a:t>The naming looks complex, but the comparison is now organized around a small number of controlled hypotheses.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1417320" cy="502920"/>
          </a:xfrm>
          <a:prstGeom prst="rect">
            <a:avLst/>
          </a:prstGeom>
          <a:solidFill>
            <a:srgbClr val="E2EAEC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011679"/>
            <a:ext cx="1271016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50" b="1">
                <a:solidFill>
                  <a:srgbClr val="2A3037"/>
                </a:solidFill>
                <a:latin typeface="Aptos"/>
              </a:defRPr>
            </a:pPr>
            <a:r>
              <a:t>Branch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1874519"/>
            <a:ext cx="3657600" cy="502920"/>
          </a:xfrm>
          <a:prstGeom prst="rect">
            <a:avLst/>
          </a:prstGeom>
          <a:solidFill>
            <a:srgbClr val="E2EAEC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6312" y="2011679"/>
            <a:ext cx="3511296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50" b="1">
                <a:solidFill>
                  <a:srgbClr val="2A3037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74519"/>
            <a:ext cx="3749039" cy="502920"/>
          </a:xfrm>
          <a:prstGeom prst="rect">
            <a:avLst/>
          </a:prstGeom>
          <a:solidFill>
            <a:srgbClr val="E2EAEC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011679"/>
            <a:ext cx="3602735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50" b="1">
                <a:solidFill>
                  <a:srgbClr val="2A3037"/>
                </a:solidFill>
                <a:latin typeface="Aptos"/>
              </a:defRPr>
            </a:pPr>
            <a:r>
              <a:t>Setting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0" y="1874519"/>
            <a:ext cx="3246120" cy="502920"/>
          </a:xfrm>
          <a:prstGeom prst="rect">
            <a:avLst/>
          </a:prstGeom>
          <a:solidFill>
            <a:srgbClr val="E2EAEC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88752" y="2011679"/>
            <a:ext cx="3099815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50" b="1">
                <a:solidFill>
                  <a:srgbClr val="2A3037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468880"/>
            <a:ext cx="1417320" cy="749808"/>
          </a:xfrm>
          <a:prstGeom prst="rect">
            <a:avLst/>
          </a:prstGeom>
          <a:solidFill>
            <a:srgbClr val="FFFFFC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2578608"/>
            <a:ext cx="1271016" cy="585215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050" b="1">
                <a:solidFill>
                  <a:srgbClr val="2A3037"/>
                </a:solidFill>
                <a:latin typeface="Aptos"/>
              </a:defRPr>
            </a:pPr>
            <a:r>
              <a:t>v5.3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2468880"/>
            <a:ext cx="3657600" cy="749808"/>
          </a:xfrm>
          <a:prstGeom prst="rect">
            <a:avLst/>
          </a:prstGeom>
          <a:solidFill>
            <a:srgbClr val="FFFFFC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96312" y="2578608"/>
            <a:ext cx="3511296" cy="585215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40" b="0">
                <a:solidFill>
                  <a:srgbClr val="646C74"/>
                </a:solidFill>
                <a:latin typeface="Aptos"/>
              </a:defRPr>
            </a:pPr>
            <a:r>
              <a:t>Full-source teacher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468880"/>
            <a:ext cx="3749039" cy="749808"/>
          </a:xfrm>
          <a:prstGeom prst="rect">
            <a:avLst/>
          </a:prstGeom>
          <a:solidFill>
            <a:srgbClr val="FFFFFC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2578608"/>
            <a:ext cx="3602735" cy="585215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40" b="0">
                <a:solidFill>
                  <a:srgbClr val="646C74"/>
                </a:solidFill>
                <a:latin typeface="Aptos"/>
              </a:defRPr>
            </a:pPr>
            <a:r>
              <a:t>Yubari + Takano + image, full Aliyun degradation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0" y="2468880"/>
            <a:ext cx="3246120" cy="749808"/>
          </a:xfrm>
          <a:prstGeom prst="rect">
            <a:avLst/>
          </a:prstGeom>
          <a:solidFill>
            <a:srgbClr val="FFFFFC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88752" y="2578608"/>
            <a:ext cx="3099815" cy="585215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40" b="0">
                <a:solidFill>
                  <a:srgbClr val="646C74"/>
                </a:solidFill>
                <a:latin typeface="Aptos"/>
              </a:defRPr>
            </a:pPr>
            <a:r>
              <a:t>main Stage 1 teacher 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218688"/>
            <a:ext cx="1417320" cy="749808"/>
          </a:xfrm>
          <a:prstGeom prst="rect">
            <a:avLst/>
          </a:prstGeom>
          <a:solidFill>
            <a:srgbClr val="F4EEE2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328416"/>
            <a:ext cx="1271016" cy="585215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050" b="1">
                <a:solidFill>
                  <a:srgbClr val="2A3037"/>
                </a:solidFill>
                <a:latin typeface="Aptos"/>
              </a:defRPr>
            </a:pPr>
            <a:r>
              <a:t>v5.3.1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23160" y="3218688"/>
            <a:ext cx="3657600" cy="749808"/>
          </a:xfrm>
          <a:prstGeom prst="rect">
            <a:avLst/>
          </a:prstGeom>
          <a:solidFill>
            <a:srgbClr val="F4EEE2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96312" y="3328416"/>
            <a:ext cx="3511296" cy="585215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40" b="0">
                <a:solidFill>
                  <a:srgbClr val="646C74"/>
                </a:solidFill>
                <a:latin typeface="Aptos"/>
              </a:defRPr>
            </a:pPr>
            <a:r>
              <a:t>Degradation ablation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218688"/>
            <a:ext cx="3749039" cy="749808"/>
          </a:xfrm>
          <a:prstGeom prst="rect">
            <a:avLst/>
          </a:prstGeom>
          <a:solidFill>
            <a:srgbClr val="F4EEE2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3328416"/>
            <a:ext cx="3602735" cy="585215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40" b="0">
                <a:solidFill>
                  <a:srgbClr val="646C74"/>
                </a:solidFill>
                <a:latin typeface="Aptos"/>
              </a:defRPr>
            </a:pPr>
            <a:r>
              <a:t>same data, half Aliyun degradation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15600" y="3218688"/>
            <a:ext cx="3246120" cy="749808"/>
          </a:xfrm>
          <a:prstGeom prst="rect">
            <a:avLst/>
          </a:prstGeom>
          <a:solidFill>
            <a:srgbClr val="F4EEE2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88752" y="3328416"/>
            <a:ext cx="3099815" cy="585215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40" b="0">
                <a:solidFill>
                  <a:srgbClr val="646C74"/>
                </a:solidFill>
                <a:latin typeface="Aptos"/>
              </a:defRPr>
            </a:pPr>
            <a:r>
              <a:t>tests whether degradation is too strong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3968496"/>
            <a:ext cx="1417320" cy="749808"/>
          </a:xfrm>
          <a:prstGeom prst="rect">
            <a:avLst/>
          </a:prstGeom>
          <a:solidFill>
            <a:srgbClr val="FFFFFC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4078224"/>
            <a:ext cx="1271016" cy="585215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050" b="1">
                <a:solidFill>
                  <a:srgbClr val="2A3037"/>
                </a:solidFill>
                <a:latin typeface="Aptos"/>
              </a:defRPr>
            </a:pPr>
            <a:r>
              <a:t>v5.3.2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23160" y="3968496"/>
            <a:ext cx="3657600" cy="749808"/>
          </a:xfrm>
          <a:prstGeom prst="rect">
            <a:avLst/>
          </a:prstGeom>
          <a:solidFill>
            <a:srgbClr val="FFFFFC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96312" y="4078224"/>
            <a:ext cx="3511296" cy="585215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40" b="0">
                <a:solidFill>
                  <a:srgbClr val="646C74"/>
                </a:solidFill>
                <a:latin typeface="Aptos"/>
              </a:defRPr>
            </a:pPr>
            <a:r>
              <a:t>Image source ablation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968496"/>
            <a:ext cx="3749039" cy="749808"/>
          </a:xfrm>
          <a:prstGeom prst="rect">
            <a:avLst/>
          </a:prstGeom>
          <a:solidFill>
            <a:srgbClr val="FFFFFC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3952" y="4078224"/>
            <a:ext cx="3602735" cy="585215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40" b="0">
                <a:solidFill>
                  <a:srgbClr val="646C74"/>
                </a:solidFill>
                <a:latin typeface="Aptos"/>
              </a:defRPr>
            </a:pPr>
            <a:r>
              <a:t>Yubari video + Yubari frame-image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0" y="3968496"/>
            <a:ext cx="3246120" cy="749808"/>
          </a:xfrm>
          <a:prstGeom prst="rect">
            <a:avLst/>
          </a:prstGeom>
          <a:solidFill>
            <a:srgbClr val="FFFFFC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88752" y="4078224"/>
            <a:ext cx="3099815" cy="585215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40" b="0">
                <a:solidFill>
                  <a:srgbClr val="646C74"/>
                </a:solidFill>
                <a:latin typeface="Aptos"/>
              </a:defRPr>
            </a:pPr>
            <a:r>
              <a:t>faster; tests external image bottleneck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4718304"/>
            <a:ext cx="1417320" cy="749808"/>
          </a:xfrm>
          <a:prstGeom prst="rect">
            <a:avLst/>
          </a:prstGeom>
          <a:solidFill>
            <a:srgbClr val="E1ECE9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2" y="4828032"/>
            <a:ext cx="1271016" cy="585215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050" b="1">
                <a:solidFill>
                  <a:srgbClr val="2A3037"/>
                </a:solidFill>
                <a:latin typeface="Aptos"/>
              </a:defRPr>
            </a:pPr>
            <a:r>
              <a:t>v5.3.6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23160" y="4718304"/>
            <a:ext cx="3657600" cy="749808"/>
          </a:xfrm>
          <a:prstGeom prst="rect">
            <a:avLst/>
          </a:prstGeom>
          <a:solidFill>
            <a:srgbClr val="E1ECE9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96312" y="4828032"/>
            <a:ext cx="3511296" cy="585215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40" b="0">
                <a:solidFill>
                  <a:srgbClr val="646C74"/>
                </a:solidFill>
                <a:latin typeface="Aptos"/>
              </a:defRPr>
            </a:pPr>
            <a:r>
              <a:t>Temporal alignment fix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718304"/>
            <a:ext cx="3749039" cy="749808"/>
          </a:xfrm>
          <a:prstGeom prst="rect">
            <a:avLst/>
          </a:prstGeom>
          <a:solidFill>
            <a:srgbClr val="E1ECE9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73952" y="4828032"/>
            <a:ext cx="3602735" cy="585215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40" b="0">
                <a:solidFill>
                  <a:srgbClr val="646C74"/>
                </a:solidFill>
                <a:latin typeface="Aptos"/>
              </a:defRPr>
            </a:pPr>
            <a:r>
              <a:t>17f, random projector, non-streaming aligned LQ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515600" y="4718304"/>
            <a:ext cx="3246120" cy="749808"/>
          </a:xfrm>
          <a:prstGeom prst="rect">
            <a:avLst/>
          </a:prstGeom>
          <a:solidFill>
            <a:srgbClr val="E1ECE9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88752" y="4828032"/>
            <a:ext cx="3099815" cy="585215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40" b="0">
                <a:solidFill>
                  <a:srgbClr val="646C74"/>
                </a:solidFill>
                <a:latin typeface="Aptos"/>
              </a:defRPr>
            </a:pPr>
            <a:r>
              <a:t>current comparison checkpoint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" y="5468112"/>
            <a:ext cx="1417320" cy="749808"/>
          </a:xfrm>
          <a:prstGeom prst="rect">
            <a:avLst/>
          </a:prstGeom>
          <a:solidFill>
            <a:srgbClr val="FFFFFC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8952" y="5577840"/>
            <a:ext cx="1271016" cy="585215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050" b="1">
                <a:solidFill>
                  <a:srgbClr val="2A3037"/>
                </a:solidFill>
                <a:latin typeface="Aptos"/>
              </a:defRPr>
            </a:pPr>
            <a:r>
              <a:t>v6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23160" y="5468112"/>
            <a:ext cx="3657600" cy="749808"/>
          </a:xfrm>
          <a:prstGeom prst="rect">
            <a:avLst/>
          </a:prstGeom>
          <a:solidFill>
            <a:srgbClr val="FFFFFC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96312" y="5577840"/>
            <a:ext cx="3511296" cy="585215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40" b="0">
                <a:solidFill>
                  <a:srgbClr val="646C74"/>
                </a:solidFill>
                <a:latin typeface="Aptos"/>
              </a:defRPr>
            </a:pPr>
            <a:r>
              <a:t>Stage 2 path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5468112"/>
            <a:ext cx="3749039" cy="749808"/>
          </a:xfrm>
          <a:prstGeom prst="rect">
            <a:avLst/>
          </a:prstGeom>
          <a:solidFill>
            <a:srgbClr val="FFFFFC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73952" y="5577840"/>
            <a:ext cx="3602735" cy="585215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40" b="0">
                <a:solidFill>
                  <a:srgbClr val="646C74"/>
                </a:solidFill>
                <a:latin typeface="Aptos"/>
              </a:defRPr>
            </a:pPr>
            <a:r>
              <a:t>video-only, chunk-causal block sparse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15600" y="5468112"/>
            <a:ext cx="3246120" cy="749808"/>
          </a:xfrm>
          <a:prstGeom prst="rect">
            <a:avLst/>
          </a:prstGeom>
          <a:solidFill>
            <a:srgbClr val="FFFFFC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88752" y="5577840"/>
            <a:ext cx="3099815" cy="585215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40" b="0">
                <a:solidFill>
                  <a:srgbClr val="646C74"/>
                </a:solidFill>
                <a:latin typeface="Aptos"/>
              </a:defRPr>
            </a:pPr>
            <a:r>
              <a:t>2-GPU smoke passed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" y="6583680"/>
            <a:ext cx="13075920" cy="685800"/>
          </a:xfrm>
          <a:prstGeom prst="roundRect">
            <a:avLst/>
          </a:prstGeom>
          <a:solidFill>
            <a:srgbClr val="F1E4DE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6784848"/>
            <a:ext cx="1645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2A3037"/>
                </a:solidFill>
                <a:latin typeface="Aptos"/>
              </a:defRPr>
            </a:pPr>
            <a:r>
              <a:t>Main lesson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86000" y="6784848"/>
            <a:ext cx="109728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050" b="0">
                <a:solidFill>
                  <a:srgbClr val="646C74"/>
                </a:solidFill>
                <a:latin typeface="Aptos"/>
              </a:defRPr>
            </a:pPr>
            <a:r>
              <a:t>The critical fixes were not just model scale: data format, degradation strength, LQ projector initialization, and temporal alignment materially changed early learning behavior.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0312"/>
            <a:ext cx="2926080" cy="23774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850" b="1">
                <a:solidFill>
                  <a:srgbClr val="646C74"/>
                </a:solidFill>
                <a:latin typeface="Aptos"/>
              </a:defRPr>
            </a:pPr>
            <a:r>
              <a:t>LucidVR | Video SR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30352"/>
            <a:ext cx="13807440" cy="13716"/>
          </a:xfrm>
          <a:prstGeom prst="rect">
            <a:avLst/>
          </a:prstGeom>
          <a:solidFill>
            <a:srgbClr val="DE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01583"/>
            <a:ext cx="14630400" cy="128016"/>
          </a:xfrm>
          <a:prstGeom prst="rect">
            <a:avLst/>
          </a:prstGeom>
          <a:solidFill>
            <a:srgbClr val="E2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3533120" cy="6583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900" b="1">
                <a:solidFill>
                  <a:srgbClr val="2A3037"/>
                </a:solidFill>
                <a:latin typeface="Aptos"/>
              </a:defRPr>
            </a:pPr>
            <a:r>
              <a:t>Evaluation package: fixed inputs, comparable outputs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280160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0">
                <a:solidFill>
                  <a:srgbClr val="646C74"/>
                </a:solidFill>
                <a:latin typeface="Aptos"/>
              </a:defRPr>
            </a:pPr>
            <a:r>
              <a:t>The comparison is organized by dataset first, then by method, so visual examples can be selected quickly for the final report.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6309360" cy="1920240"/>
          </a:xfrm>
          <a:prstGeom prst="roundRect">
            <a:avLst/>
          </a:prstGeom>
          <a:solidFill>
            <a:srgbClr val="F4EEE2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539496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1">
                <a:solidFill>
                  <a:srgbClr val="2A3037"/>
                </a:solidFill>
                <a:latin typeface="Aptos"/>
              </a:defRPr>
            </a:pPr>
            <a:r>
              <a:t>Synthetic light-degradation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06040"/>
            <a:ext cx="5486400" cy="822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171450" hanging="85725">
              <a:spcAft>
                <a:spcPts val="500"/>
              </a:spcAft>
              <a:defRPr sz="1150">
                <a:solidFill>
                  <a:srgbClr val="2A3037"/>
                </a:solidFill>
                <a:latin typeface="Aptos"/>
              </a:defRPr>
            </a:pPr>
            <a:r>
              <a:t>10 clips: 5 Takano + 5 Yubari.</a:t>
            </a:r>
          </a:p>
          <a:p>
            <a:pPr marL="171450" hanging="85725">
              <a:spcAft>
                <a:spcPts val="500"/>
              </a:spcAft>
              <a:defRPr sz="1150">
                <a:solidFill>
                  <a:srgbClr val="2A3037"/>
                </a:solidFill>
                <a:latin typeface="Aptos"/>
              </a:defRPr>
            </a:pPr>
            <a:r>
              <a:t>LQ 320x192, GT 1280x768, 17 frames, 8 fps.</a:t>
            </a:r>
          </a:p>
          <a:p>
            <a:pPr marL="171450" hanging="85725">
              <a:spcAft>
                <a:spcPts val="500"/>
              </a:spcAft>
              <a:defRPr sz="1150">
                <a:solidFill>
                  <a:srgbClr val="2A3037"/>
                </a:solidFill>
                <a:latin typeface="Aptos"/>
              </a:defRPr>
            </a:pPr>
            <a:r>
              <a:t>Aliyun-style light degradation without final bicubic restore.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874519"/>
            <a:ext cx="6309360" cy="1920240"/>
          </a:xfrm>
          <a:prstGeom prst="roundRect">
            <a:avLst/>
          </a:prstGeom>
          <a:solidFill>
            <a:srgbClr val="E1ECE9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148840"/>
            <a:ext cx="539496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1">
                <a:solidFill>
                  <a:srgbClr val="2A3037"/>
                </a:solidFill>
                <a:latin typeface="Aptos"/>
              </a:defRPr>
            </a:pPr>
            <a:r>
              <a:t>Real challenging 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606040"/>
            <a:ext cx="5486400" cy="822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171450" hanging="85725">
              <a:spcAft>
                <a:spcPts val="500"/>
              </a:spcAft>
              <a:defRPr sz="1150">
                <a:solidFill>
                  <a:srgbClr val="2A3037"/>
                </a:solidFill>
                <a:latin typeface="Aptos"/>
              </a:defRPr>
            </a:pPr>
            <a:r>
              <a:t>11 real clips from challenging_test_lxh.</a:t>
            </a:r>
          </a:p>
          <a:p>
            <a:pPr marL="171450" hanging="85725">
              <a:spcAft>
                <a:spcPts val="500"/>
              </a:spcAft>
              <a:defRPr sz="1150">
                <a:solidFill>
                  <a:srgbClr val="2A3037"/>
                </a:solidFill>
                <a:latin typeface="Aptos"/>
              </a:defRPr>
            </a:pPr>
            <a:r>
              <a:t>Resize-cover + center crop to 320x192, 17 frames, 8 fps.</a:t>
            </a:r>
          </a:p>
          <a:p>
            <a:pPr marL="171450" hanging="85725">
              <a:spcAft>
                <a:spcPts val="500"/>
              </a:spcAft>
              <a:defRPr sz="1150">
                <a:solidFill>
                  <a:srgbClr val="2A3037"/>
                </a:solidFill>
                <a:latin typeface="Aptos"/>
              </a:defRPr>
            </a:pPr>
            <a:r>
              <a:t>No GT; only input and model outputs are included.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709160"/>
            <a:ext cx="3977639" cy="713232"/>
          </a:xfrm>
          <a:prstGeom prst="roundRect">
            <a:avLst/>
          </a:prstGeom>
          <a:solidFill>
            <a:srgbClr val="E2EAEC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846320"/>
            <a:ext cx="23774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1">
                <a:solidFill>
                  <a:srgbClr val="2A3037"/>
                </a:solidFill>
                <a:latin typeface="Aptos"/>
              </a:defRPr>
            </a:pPr>
            <a:r>
              <a:t>input_lq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4855464"/>
            <a:ext cx="1325880" cy="2194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919" b="0">
                <a:solidFill>
                  <a:srgbClr val="646C74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79" y="4709160"/>
            <a:ext cx="3977639" cy="713232"/>
          </a:xfrm>
          <a:prstGeom prst="roundRect">
            <a:avLst/>
          </a:prstGeom>
          <a:solidFill>
            <a:srgbClr val="E8EEE5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76671" y="4846320"/>
            <a:ext cx="23774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1">
                <a:solidFill>
                  <a:srgbClr val="2A3037"/>
                </a:solidFill>
                <a:latin typeface="Aptos"/>
              </a:defRPr>
            </a:pPr>
            <a:r>
              <a:t>gt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4855464"/>
            <a:ext cx="1325880" cy="2194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919" b="0">
                <a:solidFill>
                  <a:srgbClr val="646C74"/>
                </a:solidFill>
                <a:latin typeface="Aptos"/>
              </a:defRPr>
            </a:pPr>
            <a:r>
              <a:t>synthetic only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19" y="4709160"/>
            <a:ext cx="3977639" cy="713232"/>
          </a:xfrm>
          <a:prstGeom prst="roundRect">
            <a:avLst/>
          </a:prstGeom>
          <a:solidFill>
            <a:srgbClr val="F1E4DE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11511" y="4846320"/>
            <a:ext cx="23774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1">
                <a:solidFill>
                  <a:srgbClr val="2A3037"/>
                </a:solidFill>
                <a:latin typeface="Aptos"/>
              </a:defRPr>
            </a:pPr>
            <a:r>
              <a:t>flashvsr_official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42647" y="4855464"/>
            <a:ext cx="1325880" cy="2194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919" b="0">
                <a:solidFill>
                  <a:srgbClr val="646C74"/>
                </a:solidFill>
                <a:latin typeface="Aptos"/>
              </a:defRPr>
            </a:pPr>
            <a:r>
              <a:t>FlashVSR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669280"/>
            <a:ext cx="3977639" cy="713232"/>
          </a:xfrm>
          <a:prstGeom prst="roundRect">
            <a:avLst/>
          </a:prstGeom>
          <a:solidFill>
            <a:srgbClr val="F4EEE2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5806440"/>
            <a:ext cx="23774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1">
                <a:solidFill>
                  <a:srgbClr val="2A3037"/>
                </a:solidFill>
                <a:latin typeface="Aptos"/>
              </a:defRPr>
            </a:pPr>
            <a:r>
              <a:t>seedvr3b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72968" y="5815584"/>
            <a:ext cx="1325880" cy="2194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919" b="0">
                <a:solidFill>
                  <a:srgbClr val="646C74"/>
                </a:solidFill>
                <a:latin typeface="Aptos"/>
              </a:defRPr>
            </a:pPr>
            <a:r>
              <a:t>SeedVR-3B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79" y="5669280"/>
            <a:ext cx="3977639" cy="713232"/>
          </a:xfrm>
          <a:prstGeom prst="roundRect">
            <a:avLst/>
          </a:prstGeom>
          <a:solidFill>
            <a:srgbClr val="E1ECE9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76671" y="5806440"/>
            <a:ext cx="23774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1">
                <a:solidFill>
                  <a:srgbClr val="2A3037"/>
                </a:solidFill>
                <a:latin typeface="Aptos"/>
              </a:defRPr>
            </a:pPr>
            <a:r>
              <a:t>seedvr2_3b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7808" y="5815584"/>
            <a:ext cx="1325880" cy="2194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919" b="0">
                <a:solidFill>
                  <a:srgbClr val="646C74"/>
                </a:solidFill>
                <a:latin typeface="Aptos"/>
              </a:defRPr>
            </a:pPr>
            <a:r>
              <a:t>SeedVR2-3B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46919" y="5669280"/>
            <a:ext cx="3977639" cy="713232"/>
          </a:xfrm>
          <a:prstGeom prst="roundRect">
            <a:avLst/>
          </a:prstGeom>
          <a:solidFill>
            <a:srgbClr val="E2EAEC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11511" y="5806440"/>
            <a:ext cx="23774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1">
                <a:solidFill>
                  <a:srgbClr val="2A3037"/>
                </a:solidFill>
                <a:latin typeface="Aptos"/>
              </a:defRPr>
            </a:pPr>
            <a:r>
              <a:t>v5.3.6 step-2300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42647" y="5815584"/>
            <a:ext cx="1325880" cy="2194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919" b="0">
                <a:solidFill>
                  <a:srgbClr val="646C74"/>
                </a:solidFill>
                <a:latin typeface="Aptos"/>
              </a:defRPr>
            </a:pPr>
            <a:r>
              <a:t>LucidVR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7059168"/>
            <a:ext cx="1261872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050" b="0">
                <a:solidFill>
                  <a:srgbClr val="646C74"/>
                </a:solidFill>
                <a:latin typeface="Aptos"/>
              </a:defRPr>
            </a:pPr>
            <a:r>
              <a:t>Clean comparison directory: compare_clean_light_x4_real320_step2300_20260430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0312"/>
            <a:ext cx="2926080" cy="23774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850" b="1">
                <a:solidFill>
                  <a:srgbClr val="646C74"/>
                </a:solidFill>
                <a:latin typeface="Aptos"/>
              </a:defRPr>
            </a:pPr>
            <a:r>
              <a:t>LucidVR | Video SR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30352"/>
            <a:ext cx="13807440" cy="13716"/>
          </a:xfrm>
          <a:prstGeom prst="rect">
            <a:avLst/>
          </a:prstGeom>
          <a:solidFill>
            <a:srgbClr val="DE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01583"/>
            <a:ext cx="14630400" cy="128016"/>
          </a:xfrm>
          <a:prstGeom prst="rect">
            <a:avLst/>
          </a:prstGeom>
          <a:solidFill>
            <a:srgbClr val="E2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3533120" cy="6583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900" b="1">
                <a:solidFill>
                  <a:srgbClr val="2A3037"/>
                </a:solidFill>
                <a:latin typeface="Aptos"/>
              </a:defRPr>
            </a:pPr>
            <a:r>
              <a:t>Stage 2 v6: sparse-causal acceleration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280160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0">
                <a:solidFill>
                  <a:srgbClr val="646C74"/>
                </a:solidFill>
                <a:latin typeface="Aptos"/>
              </a:defRPr>
            </a:pPr>
            <a:r>
              <a:t>Stage 2 changes the attention behavior and LR conditioning; KV cache and local-range inference tricks are not part of the first training smoke.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3840480" cy="713232"/>
          </a:xfrm>
          <a:prstGeom prst="roundRect">
            <a:avLst/>
          </a:prstGeom>
          <a:solidFill>
            <a:srgbClr val="F4EEE2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66544"/>
            <a:ext cx="347472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50" b="1">
                <a:solidFill>
                  <a:srgbClr val="2A3037"/>
                </a:solidFill>
                <a:latin typeface="Aptos"/>
              </a:defRPr>
            </a:pPr>
            <a:r>
              <a:t>Stage 1 teacher</a:t>
            </a:r>
            <a:br/>
            <a:r>
              <a:t>full attention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97480" y="2651760"/>
            <a:ext cx="0" cy="256032"/>
          </a:xfrm>
          <a:prstGeom prst="line">
            <a:avLst/>
          </a:prstGeom>
          <a:ln w="13970">
            <a:solidFill>
              <a:srgbClr val="658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77240" y="2971800"/>
            <a:ext cx="3840480" cy="713232"/>
          </a:xfrm>
          <a:prstGeom prst="roundRect">
            <a:avLst/>
          </a:prstGeom>
          <a:solidFill>
            <a:srgbClr val="E1ECE9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118104"/>
            <a:ext cx="347472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50" b="1">
                <a:solidFill>
                  <a:srgbClr val="2A3037"/>
                </a:solidFill>
                <a:latin typeface="Aptos"/>
              </a:defRPr>
            </a:pPr>
            <a:r>
              <a:t>Causal LR Proj-In</a:t>
            </a:r>
            <a:br/>
            <a:r>
              <a:t>4-frame groups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97480" y="3703320"/>
            <a:ext cx="0" cy="256032"/>
          </a:xfrm>
          <a:prstGeom prst="line">
            <a:avLst/>
          </a:prstGeom>
          <a:ln w="13970">
            <a:solidFill>
              <a:srgbClr val="658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4023360"/>
            <a:ext cx="3840480" cy="713232"/>
          </a:xfrm>
          <a:prstGeom prst="roundRect">
            <a:avLst/>
          </a:prstGeom>
          <a:solidFill>
            <a:srgbClr val="E2EAEC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69664"/>
            <a:ext cx="347472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50" b="1">
                <a:solidFill>
                  <a:srgbClr val="2A3037"/>
                </a:solidFill>
                <a:latin typeface="Aptos"/>
              </a:defRPr>
            </a:pPr>
            <a:r>
              <a:t>Chunk-causal mask</a:t>
            </a:r>
            <a:br/>
            <a:r>
              <a:t>chunk-level causality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97480" y="4754880"/>
            <a:ext cx="0" cy="256032"/>
          </a:xfrm>
          <a:prstGeom prst="line">
            <a:avLst/>
          </a:prstGeom>
          <a:ln w="13970">
            <a:solidFill>
              <a:srgbClr val="658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" y="5074920"/>
            <a:ext cx="3840480" cy="713232"/>
          </a:xfrm>
          <a:prstGeom prst="roundRect">
            <a:avLst/>
          </a:prstGeom>
          <a:solidFill>
            <a:srgbClr val="F1E4DE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221224"/>
            <a:ext cx="347472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50" b="1">
                <a:solidFill>
                  <a:srgbClr val="2A3037"/>
                </a:solidFill>
                <a:latin typeface="Aptos"/>
              </a:defRPr>
            </a:pPr>
            <a:r>
              <a:t>Block-sparse top-k</a:t>
            </a:r>
            <a:br/>
            <a:r>
              <a:t>(2,8,8) blocks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1874519"/>
            <a:ext cx="4572000" cy="4389120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13248" y="2121408"/>
            <a:ext cx="402336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2A3037"/>
                </a:solidFill>
                <a:latin typeface="Aptos"/>
              </a:defRPr>
            </a:pPr>
            <a:r>
              <a:t>Chunk-level causal mask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23560" y="2697480"/>
            <a:ext cx="365759" cy="365759"/>
          </a:xfrm>
          <a:prstGeom prst="rect">
            <a:avLst/>
          </a:prstGeom>
          <a:solidFill>
            <a:srgbClr val="6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07608" y="2697480"/>
            <a:ext cx="365759" cy="365759"/>
          </a:xfrm>
          <a:prstGeom prst="rect">
            <a:avLst/>
          </a:prstGeom>
          <a:solidFill>
            <a:srgbClr val="6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91656" y="2697480"/>
            <a:ext cx="365759" cy="365759"/>
          </a:xfrm>
          <a:prstGeom prst="rect">
            <a:avLst/>
          </a:prstGeom>
          <a:solidFill>
            <a:srgbClr val="6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75704" y="2697480"/>
            <a:ext cx="365759" cy="365759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59752" y="2697480"/>
            <a:ext cx="365759" cy="365759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43800" y="2697480"/>
            <a:ext cx="365759" cy="365759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27848" y="2697480"/>
            <a:ext cx="365759" cy="365759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23560" y="3081528"/>
            <a:ext cx="365759" cy="365759"/>
          </a:xfrm>
          <a:prstGeom prst="rect">
            <a:avLst/>
          </a:prstGeom>
          <a:solidFill>
            <a:srgbClr val="6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07608" y="3081528"/>
            <a:ext cx="365759" cy="365759"/>
          </a:xfrm>
          <a:prstGeom prst="rect">
            <a:avLst/>
          </a:prstGeom>
          <a:solidFill>
            <a:srgbClr val="6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91656" y="3081528"/>
            <a:ext cx="365759" cy="365759"/>
          </a:xfrm>
          <a:prstGeom prst="rect">
            <a:avLst/>
          </a:prstGeom>
          <a:solidFill>
            <a:srgbClr val="6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75704" y="3081528"/>
            <a:ext cx="365759" cy="365759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59752" y="3081528"/>
            <a:ext cx="365759" cy="365759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43800" y="3081528"/>
            <a:ext cx="365759" cy="365759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27848" y="3081528"/>
            <a:ext cx="365759" cy="365759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23560" y="3465576"/>
            <a:ext cx="365759" cy="365759"/>
          </a:xfrm>
          <a:prstGeom prst="rect">
            <a:avLst/>
          </a:prstGeom>
          <a:solidFill>
            <a:srgbClr val="6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07608" y="3465576"/>
            <a:ext cx="365759" cy="365759"/>
          </a:xfrm>
          <a:prstGeom prst="rect">
            <a:avLst/>
          </a:prstGeom>
          <a:solidFill>
            <a:srgbClr val="6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91656" y="3465576"/>
            <a:ext cx="365759" cy="365759"/>
          </a:xfrm>
          <a:prstGeom prst="rect">
            <a:avLst/>
          </a:prstGeom>
          <a:solidFill>
            <a:srgbClr val="6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75704" y="3465576"/>
            <a:ext cx="365759" cy="365759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59752" y="3465576"/>
            <a:ext cx="365759" cy="365759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43800" y="3465576"/>
            <a:ext cx="365759" cy="365759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27848" y="3465576"/>
            <a:ext cx="365759" cy="365759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23560" y="3849624"/>
            <a:ext cx="365759" cy="365759"/>
          </a:xfrm>
          <a:prstGeom prst="rect">
            <a:avLst/>
          </a:prstGeom>
          <a:solidFill>
            <a:srgbClr val="6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07608" y="3849624"/>
            <a:ext cx="365759" cy="365759"/>
          </a:xfrm>
          <a:prstGeom prst="rect">
            <a:avLst/>
          </a:prstGeom>
          <a:solidFill>
            <a:srgbClr val="6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91656" y="3849624"/>
            <a:ext cx="365759" cy="365759"/>
          </a:xfrm>
          <a:prstGeom prst="rect">
            <a:avLst/>
          </a:prstGeom>
          <a:solidFill>
            <a:srgbClr val="6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775704" y="3849624"/>
            <a:ext cx="365759" cy="365759"/>
          </a:xfrm>
          <a:prstGeom prst="rect">
            <a:avLst/>
          </a:prstGeom>
          <a:solidFill>
            <a:srgbClr val="6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59752" y="3849624"/>
            <a:ext cx="365759" cy="365759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543800" y="3849624"/>
            <a:ext cx="365759" cy="365759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27848" y="3849624"/>
            <a:ext cx="365759" cy="365759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23560" y="4233672"/>
            <a:ext cx="365759" cy="365759"/>
          </a:xfrm>
          <a:prstGeom prst="rect">
            <a:avLst/>
          </a:prstGeom>
          <a:solidFill>
            <a:srgbClr val="6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07608" y="4233672"/>
            <a:ext cx="365759" cy="365759"/>
          </a:xfrm>
          <a:prstGeom prst="rect">
            <a:avLst/>
          </a:prstGeom>
          <a:solidFill>
            <a:srgbClr val="6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91656" y="4233672"/>
            <a:ext cx="365759" cy="365759"/>
          </a:xfrm>
          <a:prstGeom prst="rect">
            <a:avLst/>
          </a:prstGeom>
          <a:solidFill>
            <a:srgbClr val="6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75704" y="4233672"/>
            <a:ext cx="365759" cy="365759"/>
          </a:xfrm>
          <a:prstGeom prst="rect">
            <a:avLst/>
          </a:prstGeom>
          <a:solidFill>
            <a:srgbClr val="6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159752" y="4233672"/>
            <a:ext cx="365759" cy="365759"/>
          </a:xfrm>
          <a:prstGeom prst="rect">
            <a:avLst/>
          </a:prstGeom>
          <a:solidFill>
            <a:srgbClr val="6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43800" y="4233672"/>
            <a:ext cx="365759" cy="365759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927848" y="4233672"/>
            <a:ext cx="365759" cy="365759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623560" y="4617720"/>
            <a:ext cx="365759" cy="365759"/>
          </a:xfrm>
          <a:prstGeom prst="rect">
            <a:avLst/>
          </a:prstGeom>
          <a:solidFill>
            <a:srgbClr val="6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007608" y="4617720"/>
            <a:ext cx="365759" cy="365759"/>
          </a:xfrm>
          <a:prstGeom prst="rect">
            <a:avLst/>
          </a:prstGeom>
          <a:solidFill>
            <a:srgbClr val="6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391656" y="4617720"/>
            <a:ext cx="365759" cy="365759"/>
          </a:xfrm>
          <a:prstGeom prst="rect">
            <a:avLst/>
          </a:prstGeom>
          <a:solidFill>
            <a:srgbClr val="6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775704" y="4617720"/>
            <a:ext cx="365759" cy="365759"/>
          </a:xfrm>
          <a:prstGeom prst="rect">
            <a:avLst/>
          </a:prstGeom>
          <a:solidFill>
            <a:srgbClr val="6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159752" y="4617720"/>
            <a:ext cx="365759" cy="365759"/>
          </a:xfrm>
          <a:prstGeom prst="rect">
            <a:avLst/>
          </a:prstGeom>
          <a:solidFill>
            <a:srgbClr val="6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543800" y="4617720"/>
            <a:ext cx="365759" cy="365759"/>
          </a:xfrm>
          <a:prstGeom prst="rect">
            <a:avLst/>
          </a:prstGeom>
          <a:solidFill>
            <a:srgbClr val="6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927848" y="4617720"/>
            <a:ext cx="365759" cy="365759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23560" y="5001768"/>
            <a:ext cx="365759" cy="365759"/>
          </a:xfrm>
          <a:prstGeom prst="rect">
            <a:avLst/>
          </a:prstGeom>
          <a:solidFill>
            <a:srgbClr val="6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07608" y="5001768"/>
            <a:ext cx="365759" cy="365759"/>
          </a:xfrm>
          <a:prstGeom prst="rect">
            <a:avLst/>
          </a:prstGeom>
          <a:solidFill>
            <a:srgbClr val="6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391656" y="5001768"/>
            <a:ext cx="365759" cy="365759"/>
          </a:xfrm>
          <a:prstGeom prst="rect">
            <a:avLst/>
          </a:prstGeom>
          <a:solidFill>
            <a:srgbClr val="6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75704" y="5001768"/>
            <a:ext cx="365759" cy="365759"/>
          </a:xfrm>
          <a:prstGeom prst="rect">
            <a:avLst/>
          </a:prstGeom>
          <a:solidFill>
            <a:srgbClr val="6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159752" y="5001768"/>
            <a:ext cx="365759" cy="365759"/>
          </a:xfrm>
          <a:prstGeom prst="rect">
            <a:avLst/>
          </a:prstGeom>
          <a:solidFill>
            <a:srgbClr val="6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543800" y="5001768"/>
            <a:ext cx="365759" cy="365759"/>
          </a:xfrm>
          <a:prstGeom prst="rect">
            <a:avLst/>
          </a:prstGeom>
          <a:solidFill>
            <a:srgbClr val="6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927848" y="5001768"/>
            <a:ext cx="365759" cy="365759"/>
          </a:xfrm>
          <a:prstGeom prst="rect">
            <a:avLst/>
          </a:prstGeom>
          <a:solidFill>
            <a:srgbClr val="68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30952" y="2770632"/>
            <a:ext cx="201168" cy="14630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680" b="0">
                <a:solidFill>
                  <a:srgbClr val="646C7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15000" y="2441448"/>
            <a:ext cx="164592" cy="14630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46C7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30952" y="3154680"/>
            <a:ext cx="201168" cy="14630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680" b="0">
                <a:solidFill>
                  <a:srgbClr val="646C7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99048" y="2441448"/>
            <a:ext cx="164592" cy="14630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46C7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30952" y="3538728"/>
            <a:ext cx="201168" cy="14630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680" b="0">
                <a:solidFill>
                  <a:srgbClr val="646C7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83096" y="2441448"/>
            <a:ext cx="164592" cy="14630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46C7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30952" y="3922776"/>
            <a:ext cx="201168" cy="14630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680" b="0">
                <a:solidFill>
                  <a:srgbClr val="646C7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67144" y="2441448"/>
            <a:ext cx="164592" cy="14630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46C7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30952" y="4306824"/>
            <a:ext cx="201168" cy="14630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680" b="0">
                <a:solidFill>
                  <a:srgbClr val="646C7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51192" y="2441448"/>
            <a:ext cx="164592" cy="14630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46C7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330952" y="4690872"/>
            <a:ext cx="201168" cy="14630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680" b="0">
                <a:solidFill>
                  <a:srgbClr val="646C7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35240" y="2441448"/>
            <a:ext cx="164592" cy="14630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46C7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330952" y="5074920"/>
            <a:ext cx="201168" cy="14630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680" b="0">
                <a:solidFill>
                  <a:srgbClr val="646C74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19288" y="2441448"/>
            <a:ext cx="164592" cy="14630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46C74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40680" y="5623560"/>
            <a:ext cx="3977639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30" b="0">
                <a:solidFill>
                  <a:srgbClr val="646C74"/>
                </a:solidFill>
                <a:latin typeface="Aptos"/>
              </a:defRPr>
            </a:pPr>
            <a:r>
              <a:t>First three chunks are full; later chunks see current and past history according to the official local_num window.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104120" y="1874519"/>
            <a:ext cx="3749039" cy="4389120"/>
          </a:xfrm>
          <a:prstGeom prst="roundRect">
            <a:avLst/>
          </a:prstGeom>
          <a:solidFill>
            <a:srgbClr val="E8EEE5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378440" y="2148840"/>
            <a:ext cx="3200400" cy="2926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1">
                <a:solidFill>
                  <a:srgbClr val="2A3037"/>
                </a:solidFill>
                <a:latin typeface="Aptos"/>
              </a:defRPr>
            </a:pPr>
            <a:r>
              <a:t>Current v6 status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378440" y="2651760"/>
            <a:ext cx="3063240" cy="19202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171450" hanging="85725">
              <a:spcAft>
                <a:spcPts val="500"/>
              </a:spcAft>
              <a:defRPr sz="1150">
                <a:solidFill>
                  <a:srgbClr val="2A3037"/>
                </a:solidFill>
                <a:latin typeface="Aptos"/>
              </a:defRPr>
            </a:pPr>
            <a:r>
              <a:t>2-GPU smoke passed with block_sparse_chunk_causal.</a:t>
            </a:r>
          </a:p>
          <a:p>
            <a:pPr marL="171450" hanging="85725">
              <a:spcAft>
                <a:spcPts val="500"/>
              </a:spcAft>
              <a:defRPr sz="1150">
                <a:solidFill>
                  <a:srgbClr val="2A3037"/>
                </a:solidFill>
                <a:latin typeface="Aptos"/>
              </a:defRPr>
            </a:pPr>
            <a:r>
              <a:t>topk_ratio=2.0 fixed in training.</a:t>
            </a:r>
          </a:p>
          <a:p>
            <a:pPr marL="171450" hanging="85725">
              <a:spcAft>
                <a:spcPts val="500"/>
              </a:spcAft>
              <a:defRPr sz="1150">
                <a:solidFill>
                  <a:srgbClr val="2A3037"/>
                </a:solidFill>
                <a:latin typeface="Aptos"/>
              </a:defRPr>
            </a:pPr>
            <a:r>
              <a:t>video-only Stage 2 dataset path is wired.</a:t>
            </a:r>
          </a:p>
          <a:p>
            <a:pPr marL="171450" hanging="85725">
              <a:spcAft>
                <a:spcPts val="500"/>
              </a:spcAft>
              <a:defRPr sz="1150">
                <a:solidFill>
                  <a:srgbClr val="2A3037"/>
                </a:solidFill>
                <a:latin typeface="Aptos"/>
              </a:defRPr>
            </a:pPr>
            <a:r>
              <a:t>Next: validate quality drop against Stage 1 teacher checkpoints.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0312"/>
            <a:ext cx="2926080" cy="23774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850" b="1">
                <a:solidFill>
                  <a:srgbClr val="646C74"/>
                </a:solidFill>
                <a:latin typeface="Aptos"/>
              </a:defRPr>
            </a:pPr>
            <a:r>
              <a:t>LucidVR | Video SR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30352"/>
            <a:ext cx="13807440" cy="13716"/>
          </a:xfrm>
          <a:prstGeom prst="rect">
            <a:avLst/>
          </a:prstGeom>
          <a:solidFill>
            <a:srgbClr val="DE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01583"/>
            <a:ext cx="14630400" cy="128016"/>
          </a:xfrm>
          <a:prstGeom prst="rect">
            <a:avLst/>
          </a:prstGeom>
          <a:solidFill>
            <a:srgbClr val="E2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3533120" cy="6583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900" b="1">
                <a:solidFill>
                  <a:srgbClr val="2A3037"/>
                </a:solidFill>
                <a:latin typeface="Aptos"/>
              </a:defRPr>
            </a:pPr>
            <a:r>
              <a:t>Current status and open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280160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0">
                <a:solidFill>
                  <a:srgbClr val="646C74"/>
                </a:solidFill>
                <a:latin typeface="Aptos"/>
              </a:defRPr>
            </a:pPr>
            <a:r>
              <a:t>The project is past basic reproduction; the remaining work is selecting the teacher and validating sparse-causal acceleration.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4160520" cy="4480560"/>
          </a:xfrm>
          <a:prstGeom prst="roundRect">
            <a:avLst/>
          </a:prstGeom>
          <a:solidFill>
            <a:srgbClr val="E1ECE9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3657600" cy="310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600" b="1">
                <a:solidFill>
                  <a:srgbClr val="2A3037"/>
                </a:solidFill>
                <a:latin typeface="Aptos"/>
              </a:defRPr>
            </a:pPr>
            <a:r>
              <a:t>Completed / 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3520440" cy="2468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171450" hanging="85725">
              <a:spcAft>
                <a:spcPts val="500"/>
              </a:spcAft>
              <a:defRPr sz="1150">
                <a:solidFill>
                  <a:srgbClr val="2A3037"/>
                </a:solidFill>
                <a:latin typeface="Aptos"/>
              </a:defRPr>
            </a:pPr>
            <a:r>
              <a:t>Fixed 320x192 evaluation package</a:t>
            </a:r>
          </a:p>
          <a:p>
            <a:pPr marL="171450" hanging="85725">
              <a:spcAft>
                <a:spcPts val="500"/>
              </a:spcAft>
              <a:defRPr sz="1150">
                <a:solidFill>
                  <a:srgbClr val="2A3037"/>
                </a:solidFill>
                <a:latin typeface="Aptos"/>
              </a:defRPr>
            </a:pPr>
            <a:r>
              <a:t>Stage 1 non-streaming aligned inference</a:t>
            </a:r>
          </a:p>
          <a:p>
            <a:pPr marL="171450" hanging="85725">
              <a:spcAft>
                <a:spcPts val="500"/>
              </a:spcAft>
              <a:defRPr sz="1150">
                <a:solidFill>
                  <a:srgbClr val="2A3037"/>
                </a:solidFill>
                <a:latin typeface="Aptos"/>
              </a:defRPr>
            </a:pPr>
            <a:r>
              <a:t>v6 2-GPU smoke passes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59" y="1965960"/>
            <a:ext cx="4160520" cy="4480560"/>
          </a:xfrm>
          <a:prstGeom prst="roundRect">
            <a:avLst/>
          </a:prstGeom>
          <a:solidFill>
            <a:srgbClr val="E2EAEC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59" y="2240280"/>
            <a:ext cx="3657600" cy="310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600" b="1">
                <a:solidFill>
                  <a:srgbClr val="2A3037"/>
                </a:solidFill>
                <a:latin typeface="Aptos"/>
              </a:defRPr>
            </a:pPr>
            <a:r>
              <a:t>Active experiments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4999" y="2788920"/>
            <a:ext cx="3520440" cy="2468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171450" hanging="85725">
              <a:spcAft>
                <a:spcPts val="500"/>
              </a:spcAft>
              <a:defRPr sz="1150">
                <a:solidFill>
                  <a:srgbClr val="2A3037"/>
                </a:solidFill>
                <a:latin typeface="Aptos"/>
              </a:defRPr>
            </a:pPr>
            <a:r>
              <a:t>17f/89f Stage 1 teacher checkpoints</a:t>
            </a:r>
          </a:p>
          <a:p>
            <a:pPr marL="171450" hanging="85725">
              <a:spcAft>
                <a:spcPts val="500"/>
              </a:spcAft>
              <a:defRPr sz="1150">
                <a:solidFill>
                  <a:srgbClr val="2A3037"/>
                </a:solidFill>
                <a:latin typeface="Aptos"/>
              </a:defRPr>
            </a:pPr>
            <a:r>
              <a:t>degradation strength ablations</a:t>
            </a:r>
          </a:p>
          <a:p>
            <a:pPr marL="171450" hanging="85725">
              <a:spcAft>
                <a:spcPts val="500"/>
              </a:spcAft>
              <a:defRPr sz="1150">
                <a:solidFill>
                  <a:srgbClr val="2A3037"/>
                </a:solidFill>
                <a:latin typeface="Aptos"/>
              </a:defRPr>
            </a:pPr>
            <a:r>
              <a:t>random vs initialized projector behavior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12680" y="1965960"/>
            <a:ext cx="4160520" cy="4480560"/>
          </a:xfrm>
          <a:prstGeom prst="roundRect">
            <a:avLst/>
          </a:prstGeom>
          <a:solidFill>
            <a:srgbClr val="F1E4DE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0" y="2240280"/>
            <a:ext cx="3657600" cy="310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600" b="1">
                <a:solidFill>
                  <a:srgbClr val="2A3037"/>
                </a:solidFill>
                <a:latin typeface="Aptos"/>
              </a:defRPr>
            </a:pPr>
            <a:r>
              <a:t>Open risks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9" y="2788920"/>
            <a:ext cx="3520440" cy="2468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171450" hanging="85725">
              <a:spcAft>
                <a:spcPts val="500"/>
              </a:spcAft>
              <a:defRPr sz="1150">
                <a:solidFill>
                  <a:srgbClr val="2A3037"/>
                </a:solidFill>
                <a:latin typeface="Aptos"/>
              </a:defRPr>
            </a:pPr>
            <a:r>
              <a:t>Stage 2 quality drop after causal sparse adaptation</a:t>
            </a:r>
          </a:p>
          <a:p>
            <a:pPr marL="171450" hanging="85725">
              <a:spcAft>
                <a:spcPts val="500"/>
              </a:spcAft>
              <a:defRPr sz="1150">
                <a:solidFill>
                  <a:srgbClr val="2A3037"/>
                </a:solidFill>
                <a:latin typeface="Aptos"/>
              </a:defRPr>
            </a:pPr>
            <a:r>
              <a:t>SeedVR comparisons require careful fixed-size protocol</a:t>
            </a:r>
          </a:p>
          <a:p>
            <a:pPr marL="171450" hanging="85725">
              <a:spcAft>
                <a:spcPts val="500"/>
              </a:spcAft>
              <a:defRPr sz="1150">
                <a:solidFill>
                  <a:srgbClr val="2A3037"/>
                </a:solidFill>
                <a:latin typeface="Aptos"/>
              </a:defRPr>
            </a:pPr>
            <a:r>
              <a:t>teacher selection still depends on visual inspection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6720840"/>
            <a:ext cx="12801600" cy="502920"/>
          </a:xfrm>
          <a:prstGeom prst="roundRect">
            <a:avLst/>
          </a:prstGeom>
          <a:solidFill>
            <a:srgbClr val="F4EEE2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6876288"/>
            <a:ext cx="1225296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20" b="1">
                <a:solidFill>
                  <a:srgbClr val="2A3037"/>
                </a:solidFill>
                <a:latin typeface="Aptos"/>
              </a:defRPr>
            </a:pPr>
            <a:r>
              <a:t>Near-term decision: pick the strongest Stage 1 teacher checkpoint before investing in longer Stage 2 / Stage 3 runs.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0312"/>
            <a:ext cx="2926080" cy="23774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850" b="1">
                <a:solidFill>
                  <a:srgbClr val="646C74"/>
                </a:solidFill>
                <a:latin typeface="Aptos"/>
              </a:defRPr>
            </a:pPr>
            <a:r>
              <a:t>LucidVR | Video SR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30352"/>
            <a:ext cx="13807440" cy="13716"/>
          </a:xfrm>
          <a:prstGeom prst="rect">
            <a:avLst/>
          </a:prstGeom>
          <a:solidFill>
            <a:srgbClr val="DE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101583"/>
            <a:ext cx="14630400" cy="128016"/>
          </a:xfrm>
          <a:prstGeom prst="rect">
            <a:avLst/>
          </a:prstGeom>
          <a:solidFill>
            <a:srgbClr val="E2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3533120" cy="6583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900" b="1">
                <a:solidFill>
                  <a:srgbClr val="2A3037"/>
                </a:solidFill>
                <a:latin typeface="Aptos"/>
              </a:defRPr>
            </a:pPr>
            <a:r>
              <a:t>Next milestones and support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280160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50" b="0">
                <a:solidFill>
                  <a:srgbClr val="646C74"/>
                </a:solidFill>
                <a:latin typeface="Aptos"/>
              </a:defRPr>
            </a:pPr>
            <a:r>
              <a:t>A consistent, short-term plan for moving from current teacher checkpoints to a usable LucidVR prototype.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920240"/>
            <a:ext cx="12893040" cy="960120"/>
          </a:xfrm>
          <a:prstGeom prst="roundRect">
            <a:avLst/>
          </a:prstGeom>
          <a:solidFill>
            <a:srgbClr val="E1ECE9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30552"/>
            <a:ext cx="4114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800" b="1">
                <a:solidFill>
                  <a:srgbClr val="2A303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03120"/>
            <a:ext cx="2743200" cy="310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1">
                <a:solidFill>
                  <a:srgbClr val="2A3037"/>
                </a:solidFill>
                <a:latin typeface="Aptos"/>
              </a:defRPr>
            </a:pPr>
            <a:r>
              <a:t>Teacher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03120"/>
            <a:ext cx="6675120" cy="310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50" b="0">
                <a:solidFill>
                  <a:srgbClr val="646C74"/>
                </a:solidFill>
                <a:latin typeface="Aptos"/>
              </a:defRPr>
            </a:pPr>
            <a:r>
              <a:t>Finish visual comparison on fixed synthetic + real sets.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58600" y="2103120"/>
            <a:ext cx="1645920" cy="310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1100" b="1">
                <a:solidFill>
                  <a:srgbClr val="658496"/>
                </a:solidFill>
                <a:latin typeface="Aptos"/>
              </a:defRPr>
            </a:pPr>
            <a:r>
              <a:t>1–2 days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337560"/>
            <a:ext cx="12893040" cy="960120"/>
          </a:xfrm>
          <a:prstGeom prst="roundRect">
            <a:avLst/>
          </a:prstGeom>
          <a:solidFill>
            <a:srgbClr val="E2EAEC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547872"/>
            <a:ext cx="4114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800" b="1">
                <a:solidFill>
                  <a:srgbClr val="2A303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520440"/>
            <a:ext cx="2743200" cy="310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1">
                <a:solidFill>
                  <a:srgbClr val="2A3037"/>
                </a:solidFill>
                <a:latin typeface="Aptos"/>
              </a:defRPr>
            </a:pPr>
            <a:r>
              <a:t>Stage 2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520440"/>
            <a:ext cx="6675120" cy="310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50" b="0">
                <a:solidFill>
                  <a:srgbClr val="646C74"/>
                </a:solidFill>
                <a:latin typeface="Aptos"/>
              </a:defRPr>
            </a:pPr>
            <a:r>
              <a:t>Run v6 sparse-causal training from selected teacher and compare quality / speed.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58600" y="3520440"/>
            <a:ext cx="1645920" cy="310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1100" b="1">
                <a:solidFill>
                  <a:srgbClr val="658496"/>
                </a:solidFill>
                <a:latin typeface="Aptos"/>
              </a:defRPr>
            </a:pPr>
            <a:r>
              <a:t>next week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754880"/>
            <a:ext cx="12893040" cy="960120"/>
          </a:xfrm>
          <a:prstGeom prst="roundRect">
            <a:avLst/>
          </a:prstGeom>
          <a:solidFill>
            <a:srgbClr val="F1E4DE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965192"/>
            <a:ext cx="4114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800" b="1">
                <a:solidFill>
                  <a:srgbClr val="2A303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937760"/>
            <a:ext cx="2743200" cy="310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1">
                <a:solidFill>
                  <a:srgbClr val="2A3037"/>
                </a:solidFill>
                <a:latin typeface="Aptos"/>
              </a:defRPr>
            </a:pPr>
            <a:r>
              <a:t>Stage 3 distillation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937760"/>
            <a:ext cx="6675120" cy="310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50" b="0">
                <a:solidFill>
                  <a:srgbClr val="646C74"/>
                </a:solidFill>
                <a:latin typeface="Aptos"/>
              </a:defRPr>
            </a:pPr>
            <a:r>
              <a:t>Add one-step distillation with pixel-level loss and temporal consistency checks.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58600" y="4937760"/>
            <a:ext cx="1645920" cy="310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1100" b="1">
                <a:solidFill>
                  <a:srgbClr val="658496"/>
                </a:solidFill>
                <a:latin typeface="Aptos"/>
              </a:defRPr>
            </a:pPr>
            <a:r>
              <a:t>after Stage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6446520"/>
            <a:ext cx="6263640" cy="731520"/>
          </a:xfrm>
          <a:prstGeom prst="roundRect">
            <a:avLst/>
          </a:prstGeom>
          <a:solidFill>
            <a:srgbClr val="F4EEE2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6656832"/>
            <a:ext cx="1645920" cy="2194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2A3037"/>
                </a:solidFill>
                <a:latin typeface="Aptos"/>
              </a:defRPr>
            </a:pPr>
            <a:r>
              <a:t>Resource 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6656832"/>
            <a:ext cx="4023360" cy="2194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050" b="0">
                <a:solidFill>
                  <a:srgbClr val="646C74"/>
                </a:solidFill>
                <a:latin typeface="Aptos"/>
              </a:defRPr>
            </a:pPr>
            <a:r>
              <a:t>Stable multi-node GPU windows for teacher continuation and Stage 2 ablation.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6446520"/>
            <a:ext cx="6263640" cy="731520"/>
          </a:xfrm>
          <a:prstGeom prst="roundRect">
            <a:avLst/>
          </a:prstGeom>
          <a:solidFill>
            <a:srgbClr val="E8EEE5"/>
          </a:solidFill>
          <a:ln w="10160">
            <a:solidFill>
              <a:srgbClr val="DE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6656832"/>
            <a:ext cx="2057400" cy="2194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2A3037"/>
                </a:solidFill>
                <a:latin typeface="Aptos"/>
              </a:defRPr>
            </a:pPr>
            <a:r>
              <a:t>Expected deliverable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6656832"/>
            <a:ext cx="3566160" cy="2194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050" b="0">
                <a:solidFill>
                  <a:srgbClr val="646C74"/>
                </a:solidFill>
                <a:latin typeface="Aptos"/>
              </a:defRPr>
            </a:pPr>
            <a:r>
              <a:t>A LucidVR prototype with fixed test-set comparison against FlashVSR and SeedVR.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