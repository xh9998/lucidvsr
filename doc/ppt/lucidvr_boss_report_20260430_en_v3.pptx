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347472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LucidVR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1463040" cy="54864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804672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Efficient Video Super-Resolution
for Real Degraded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88920"/>
            <a:ext cx="850392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0">
                <a:solidFill>
                  <a:srgbClr val="DBE5EE"/>
                </a:solidFill>
                <a:latin typeface="Aptos"/>
              </a:rPr>
              <a:t>Strategy: reproduce the FlashVSR efficiency path, then adapt it to internal video/image data and realistic degradations.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005840"/>
            <a:ext cx="2788920" cy="443484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3E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87968" y="1325880"/>
            <a:ext cx="2103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Executive thesis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3960" y="187451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88552" y="181051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Generic video generators are useful baselines, but can hallucinate identity/object changes.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23960" y="237744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88552" y="231343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A VSR production model needs fidelity, temporal stability, and predictable latency.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88036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88552" y="2816352"/>
            <a:ext cx="1984248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20" b="0">
                <a:solidFill>
                  <a:srgbClr val="E2EBF3"/>
                </a:solidFill>
                <a:latin typeface="Aptos"/>
              </a:rPr>
              <a:t>FlashVSR provides a strong blueprint; LucidVR adds internal-data adaptation and reproducible training.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17220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>
                <a:solidFill>
                  <a:srgbClr val="B4C2CF"/>
                </a:solidFill>
                <a:latin typeface="Aptos"/>
              </a:rP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Motivation: VSR is not video re-generation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first slide with visual evidence should show where SeedVR is strong but misaligned with restoration fidelity.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LQ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real degraded frame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954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may change face /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1463040"/>
            <a:ext cx="2240280" cy="205740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41848" y="1554480"/>
            <a:ext cx="202082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78424" y="2400300"/>
            <a:ext cx="194767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faithful restoration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141732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664208"/>
            <a:ext cx="25603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Decision framing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09397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2" y="2029968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SeedVR remains a valuable perceptual baseline.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404872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1352" y="2340864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However, hallucination is unacceptable for many VSR use cases.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66760" y="271576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31352" y="2651760"/>
            <a:ext cx="235000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LucidVR optimizes for restoration fidelity and speed rather than unconstrained generation.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51960"/>
            <a:ext cx="10561320" cy="9601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B2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53712"/>
            <a:ext cx="1010412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Success criterion: a model that improves sharpness and perceptual quality while preserving content identity, motion, and frame-rate consistency.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Blueprint from FlashVSR, adapted for LucidVR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FlashVSR shows a practical route from high-quality diffusion VSR to streaming one-step inference.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FlashVSR paper blueprint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14883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08483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Wan2.1-1.3B backbone + LoRA rank 384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441447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377439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Three-stage training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734055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670047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1: video-image joint teacher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02666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2962655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2: sparse-causal adaptation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331927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1" y="3255263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Stage 3: one-step distillation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61187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54787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Reported: ~17 FPS at 768×1408 on A100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03320" y="1417320"/>
            <a:ext cx="274320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0" y="1691640"/>
            <a:ext cx="22860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LucidVR adaptation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148839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1" y="2084831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Internal Yubari / Takano video sources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2441447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2377439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Internal high-res image sources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734055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1" y="2670047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Aliyun-style realistic degradation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3026663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96511" y="2962655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Corrected LQ projector / VAE temporal alignment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3319271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96511" y="3255263"/>
            <a:ext cx="2075688" cy="38404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Multi-node B200 training and utilization monitoring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1417320"/>
            <a:ext cx="4343400" cy="4297680"/>
          </a:xfrm>
          <a:prstGeom prst="roundRect">
            <a:avLst/>
          </a:prstGeom>
          <a:solidFill>
            <a:srgbClr val="FCFDFE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59168" y="1691640"/>
            <a:ext cx="35661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What is different from a direct reproduction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2240279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51192" y="2176272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The hardest part is not only model code: it is data + degradation + latent alignment.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2633472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51192" y="2569464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Multiple early branches were deprecated after exposing loss, memory, or motion-quality issues.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3026664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2962656"/>
            <a:ext cx="3310127" cy="4846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1C232B"/>
                </a:solidFill>
                <a:latin typeface="Aptos"/>
              </a:rPr>
              <a:t>Current Stage 1 is a corrected teacher path designed to connect cleanly to Stage 2.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LucidVR 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Training and inference are organized around a faithful Stage 1 teacher and a sparse-causal acceleration path.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9202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Internal data
Yubari / Takano / Images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1920240" cy="594360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Realistic degradation
Aliyun-style LQ synthesis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0" y="2011680"/>
            <a:ext cx="0" cy="32004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234440"/>
            <a:ext cx="1874519" cy="77724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LQ Proj-In
non-streaming aligned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143000"/>
            <a:ext cx="2057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C232B"/>
                </a:solidFill>
                <a:latin typeface="Aptos"/>
              </a:rPr>
              <a:t>WAN DiT Teacher
full attention + LoRA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234440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>
                <a:solidFill>
                  <a:srgbClr val="1C232B"/>
                </a:solidFill>
                <a:latin typeface="Aptos"/>
              </a:rPr>
              <a:t>VAE decoder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234440"/>
            <a:ext cx="1828800" cy="777240"/>
          </a:xfrm>
          <a:prstGeom prst="roundRect">
            <a:avLst/>
          </a:prstGeom>
          <a:solidFill>
            <a:srgbClr val="E4EEFF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1 teacher
quality anchor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23160" y="1627632"/>
            <a:ext cx="365760" cy="9144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663440" y="1627632"/>
            <a:ext cx="32004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1627632"/>
            <a:ext cx="32004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15400" y="1627632"/>
            <a:ext cx="457200" cy="0"/>
          </a:xfrm>
          <a:prstGeom prst="line">
            <a:avLst/>
          </a:prstGeom>
          <a:ln w="25400">
            <a:solidFill>
              <a:srgbClr val="009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88920" y="2240280"/>
            <a:ext cx="81381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19" b="0">
                <a:solidFill>
                  <a:srgbClr val="566270"/>
                </a:solidFill>
                <a:latin typeface="Aptos"/>
              </a:rPr>
              <a:t>Corrected alignment: 17f→5 latent, 89f→23 latent; video/image branches pass VAE/projector separately and merge at token level.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3063240"/>
            <a:ext cx="1874519" cy="77724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19" b="1">
                <a:solidFill>
                  <a:srgbClr val="1C232B"/>
                </a:solidFill>
                <a:latin typeface="Aptos"/>
              </a:rPr>
              <a:t>Causal LR Proj-In
4-frame groups + cache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2926080"/>
            <a:ext cx="2057400" cy="105156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Sparse-Causal DiT
(2,8,8) blocks + top-k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063240"/>
            <a:ext cx="15544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Streaming path
video only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3063240"/>
            <a:ext cx="1828800" cy="77724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2 model
faster inference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423160" y="3456432"/>
            <a:ext cx="36576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3456432"/>
            <a:ext cx="32004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040880" y="3456432"/>
            <a:ext cx="32004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915400" y="3456432"/>
            <a:ext cx="457200" cy="0"/>
          </a:xfrm>
          <a:prstGeom prst="line">
            <a:avLst/>
          </a:prstGeom>
          <a:ln w="25400">
            <a:solidFill>
              <a:srgbClr val="625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788920" y="4133087"/>
            <a:ext cx="8138160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19" b="0">
                <a:solidFill>
                  <a:srgbClr val="566270"/>
                </a:solidFill>
                <a:latin typeface="Aptos"/>
              </a:rPr>
              <a:t>Stage 2 v6: official chunk-level mask, local_num window, block-sparse attention, video-only flow matching.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88920" y="4864608"/>
            <a:ext cx="1874519" cy="731520"/>
          </a:xfrm>
          <a:prstGeom prst="roundRect">
            <a:avLst/>
          </a:prstGeom>
          <a:solidFill>
            <a:srgbClr val="EEEAFF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Stage 2 teacher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754880"/>
            <a:ext cx="2057400" cy="960120"/>
          </a:xfrm>
          <a:prstGeom prst="roundRect">
            <a:avLst/>
          </a:prstGeom>
          <a:solidFill>
            <a:srgbClr val="FFEEE0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One-step student
DMD + FM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4864608"/>
            <a:ext cx="155448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00" b="1">
                <a:solidFill>
                  <a:srgbClr val="1C232B"/>
                </a:solidFill>
                <a:latin typeface="Aptos"/>
              </a:rPr>
              <a:t>Pixel / LPIPS
reconstruction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4864608"/>
            <a:ext cx="1828800" cy="7315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50" b="1">
                <a:solidFill>
                  <a:srgbClr val="1C232B"/>
                </a:solidFill>
                <a:latin typeface="Aptos"/>
              </a:rPr>
              <a:t>Deployable
LucidVR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663440" y="5230368"/>
            <a:ext cx="32004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040880" y="5230368"/>
            <a:ext cx="32004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15400" y="5230368"/>
            <a:ext cx="457200" cy="0"/>
          </a:xfrm>
          <a:prstGeom prst="line">
            <a:avLst/>
          </a:prstGeom>
          <a:ln w="25400">
            <a:solidFill>
              <a:srgbClr val="E87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1234440"/>
            <a:ext cx="11567160" cy="516636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lucidvr_architecture_generated_202604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108356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Engineering progress: experiments converged to a cleaner Stage 1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current setup is the result of debugging data, degradation, projector initialization, temporal alignment, and multi-node utilization.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69164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Branch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1417320"/>
            <a:ext cx="379476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417320"/>
            <a:ext cx="5486400" cy="384048"/>
          </a:xfrm>
          <a:prstGeom prst="rect">
            <a:avLst/>
          </a:prstGeom>
          <a:solidFill>
            <a:srgbClr val="0C1A2B"/>
          </a:solidFill>
          <a:ln w="12700">
            <a:solidFill>
              <a:srgbClr val="0C1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080" b="1">
                <a:solidFill>
                  <a:srgbClr val="FFFFFF"/>
                </a:solidFill>
                <a:latin typeface="Aptos"/>
              </a:rPr>
              <a:t>Outcome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56232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94560" y="1856232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Multi-source data + packed attention + Aliyun degradation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856232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Exposed slow convergence and sample-definition issues; not kept as final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86584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v5.1 / v5.2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386584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Grouped image samples with different loss weighting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2386584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Deprecated: too much padding/shape logic and memory pressure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16936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2916936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Author-style paired video + image pseudo-video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2916936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Kept as the clean joint-training 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3447288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v5.3.5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3447288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89f Stage1, non-streaming aligned projector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3447288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Current long-frame teacher candidate on 48 GPUs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977639"/>
            <a:ext cx="169164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v5.3.6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94560" y="3977639"/>
            <a:ext cx="37947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17f Stage1, same rules as 5.3.5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3977639"/>
            <a:ext cx="54864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Current short-frame teacher candidate on 16 GPUs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507992"/>
            <a:ext cx="169164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v6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4507992"/>
            <a:ext cx="379476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Stage2 sparse-causal training code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4507992"/>
            <a:ext cx="5486400" cy="493776"/>
          </a:xfrm>
          <a:prstGeom prst="rect">
            <a:avLst/>
          </a:prstGeom>
          <a:solidFill>
            <a:srgbClr val="F2F5F8"/>
          </a:solidFill>
          <a:ln w="12700">
            <a:solidFill>
              <a:srgbClr val="DA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b="0">
                <a:solidFill>
                  <a:srgbClr val="1C232B"/>
                </a:solidFill>
                <a:latin typeface="Aptos"/>
              </a:rPr>
              <a:t>Designed; waiting for smoke test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650992"/>
            <a:ext cx="10607040" cy="502920"/>
          </a:xfrm>
          <a:prstGeom prst="roundRect">
            <a:avLst/>
          </a:prstGeom>
          <a:solidFill>
            <a:srgbClr val="DEF6EF"/>
          </a:solidFill>
          <a:ln w="12700">
            <a:solidFill>
              <a:srgbClr val="AFDC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806440"/>
            <a:ext cx="101955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150" b="1">
                <a:solidFill>
                  <a:srgbClr val="0C1A2B"/>
                </a:solidFill>
                <a:latin typeface="Aptos"/>
              </a:rPr>
              <a:t>Current confidence point: the latest Stage 1 runs no longer use the old streaming projector mismatch; LQ tokens and DiT tokens are aligned before continuing training.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Data and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evaluation package should make quality and speed comparable across LucidVR, FlashVSR, and SeedVR.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Training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48840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Yubari video tar stream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52374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459736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Takano video tar stream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83463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770632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Takano image tar / manifest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145535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081527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Video-image paired Stage1 sampling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45643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92423"/>
            <a:ext cx="225856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Video-only Stage2 adaptation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1417320"/>
            <a:ext cx="310896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Degradation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34840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1" y="2148840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Aliyun-style video degradation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542032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2478024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Compression / blur / noise artifacts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2871215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1" y="2807208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Original RealBasicVSR-style branch kept for comparison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200399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3136391"/>
            <a:ext cx="2258568" cy="42062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Fixed synthetic test set for repeatability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0960" y="1417320"/>
            <a:ext cx="329184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1691640"/>
            <a:ext cx="2377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C1A2B"/>
                </a:solidFill>
                <a:latin typeface="Aptos"/>
              </a:rPr>
              <a:t>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79" y="2212848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19871" y="2148840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Synthetic degraded test clips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2523744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19871" y="2459736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Real challenging videos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834639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1" y="2770632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Same input FPS / output FPS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3145535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19871" y="3081527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Runtime, VRAM, model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79" y="3456431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19871" y="3392423"/>
            <a:ext cx="244144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Visual inspection: identity, motion, detail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Stage 2 v6: what changes technically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Stage 2 is not just a mask; it replaces the self-attention path with sparse-causal block attention while making LR conditioning causal.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7432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21945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0967D"/>
                </a:solidFill>
                <a:latin typeface="Aptos"/>
              </a:rPr>
              <a:t>Causal LR Proj-In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48840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LQ frames processed in 4-frame groups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56032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2496312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Previous group cache is carried forward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2907791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1" y="2843784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For 89 frames: LQ projector outputs 22 latent-time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325526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191256"/>
            <a:ext cx="207568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Aligns with Stage2 target after dropping first GT latent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1417320"/>
            <a:ext cx="34747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691640"/>
            <a:ext cx="28346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6253BE"/>
                </a:solidFill>
                <a:latin typeface="Aptos"/>
              </a:rPr>
              <a:t>Sparse-causal self-attention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21284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96511" y="214884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Chunk-level causal mask, not token-level lower triangle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0" y="253288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96511" y="246888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First three chunks form a full-attention start window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85292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96511" y="278892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Official local_num window controls history length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1920" y="317296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96511" y="310896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(2,8,8) blocks = 128 tokens per sparse block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493008"/>
            <a:ext cx="73152" cy="73152"/>
          </a:xfrm>
          <a:prstGeom prst="rect">
            <a:avLst/>
          </a:prstGeom>
          <a:solidFill>
            <a:srgbClr val="6253BE"/>
          </a:solidFill>
          <a:ln w="12700">
            <a:solidFill>
              <a:srgbClr val="6253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1" y="3429000"/>
            <a:ext cx="2578608" cy="4114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Top-k block pairs selected via Q/K pooled features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52360" y="1417320"/>
            <a:ext cx="3429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26679" y="1691640"/>
            <a:ext cx="265176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E87E3A"/>
                </a:solidFill>
                <a:latin typeface="Aptos"/>
              </a:rPr>
              <a:t>Why this matters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26679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91271" y="2148840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Reduces redundant attention cost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560320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1" y="2496312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Enables streaming-friendly adaptation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26679" y="2907791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91271" y="2843784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Keeps Stage1 weights transferable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26679" y="3255263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91271" y="3191256"/>
            <a:ext cx="2487168" cy="43891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1C232B"/>
                </a:solidFill>
                <a:latin typeface="Aptos"/>
              </a:rPr>
              <a:t>Provides a path to fast one-step distillation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Results slide: use a small number of high-signal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Recommended: one SeedVR failure case and one LucidVR/FlashVSR improvement case, each with runtime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Input LQ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real degraded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2316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3288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946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content drift / slow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FlashVSR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official baseline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internal-data adapted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353312"/>
            <a:ext cx="1600200" cy="150876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7" y="1444752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Reference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3" y="2016251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if available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353312"/>
            <a:ext cx="1600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1591056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C1A2B"/>
                </a:solidFill>
                <a:latin typeface="Aptos"/>
              </a:rPr>
              <a:t>Runtime
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95560" y="200253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60152" y="193852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sec / clip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95560" y="218541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60152" y="212140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FPS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95560" y="236829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0152" y="230428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VRAM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195560" y="255117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60152" y="2487168"/>
            <a:ext cx="932688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model size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Input LQ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motion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3288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SeedVR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946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may redraw details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5312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FlashVSR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970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speed baseline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LucidVR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9944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quality target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83879" y="3767328"/>
            <a:ext cx="1600200" cy="1417320"/>
          </a:xfrm>
          <a:prstGeom prst="roundRect">
            <a:avLst/>
          </a:prstGeom>
          <a:solidFill>
            <a:srgbClr val="F2F5F8"/>
          </a:solidFill>
          <a:ln w="12700">
            <a:solidFill>
              <a:srgbClr val="B6C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93607" y="3858768"/>
            <a:ext cx="1380744" cy="2194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1">
                <a:solidFill>
                  <a:srgbClr val="0C1A2B"/>
                </a:solidFill>
                <a:latin typeface="Aptos"/>
              </a:rPr>
              <a:t>Reference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3" y="4384548"/>
            <a:ext cx="1307592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0">
                <a:solidFill>
                  <a:srgbClr val="566270"/>
                </a:solidFill>
                <a:latin typeface="Aptos"/>
              </a:rPr>
              <a:t>if available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012680" y="3767328"/>
            <a:ext cx="16002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3986784"/>
            <a:ext cx="12344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>
                <a:solidFill>
                  <a:srgbClr val="0C1A2B"/>
                </a:solidFill>
                <a:latin typeface="Aptos"/>
              </a:rPr>
              <a:t>Decision
readout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95560" y="440740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60152" y="4343400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fidelity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95560" y="462686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60152" y="4562856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temporal stability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195560" y="484632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60152" y="4782312"/>
            <a:ext cx="978408" cy="31089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80" b="0">
                <a:solidFill>
                  <a:srgbClr val="1C232B"/>
                </a:solidFill>
                <a:latin typeface="Aptos"/>
              </a:rPr>
              <a:t>speed trade-off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6868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0C1A2B"/>
                </a:solidFill>
                <a:latin typeface="Aptos"/>
              </a:rPr>
              <a:t>Current status and open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1051560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50" b="0">
                <a:solidFill>
                  <a:srgbClr val="566270"/>
                </a:solidFill>
                <a:latin typeface="Aptos"/>
              </a:rPr>
              <a:t>The project is past basic reproduction; the main remaining work is selecting the teacher and validating sparse-causal acceleration.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097280"/>
            <a:ext cx="1051560" cy="41148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00967D"/>
                </a:solidFill>
                <a:latin typeface="Aptos"/>
              </a:rPr>
              <a:t>Current 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" y="2212848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4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Corrected Stage1 teacher runs are active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0392" y="2569464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4984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48-GPU 89f run: high utilization observed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" y="2926080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4984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16-GPU 17f run: stable utilization with workers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" y="3282696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v6 Stage2 code and mask design are ready for smoke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E87E3A"/>
                </a:solidFill>
                <a:latin typeface="Aptos"/>
              </a:rPr>
              <a:t>Main risks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07992" y="2212848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72584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Stage1 teacher quality must be selected carefully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07992" y="2569464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72584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Stage2 sparse-causal smoke may reveal kernel/shape constraints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07992" y="2926080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72584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Image-video data improves detail but can hurt motion if misaligned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3282696"/>
            <a:ext cx="73152" cy="73152"/>
          </a:xfrm>
          <a:prstGeom prst="rect">
            <a:avLst/>
          </a:prstGeom>
          <a:solidFill>
            <a:srgbClr val="E87E3A"/>
          </a:solidFill>
          <a:ln w="12700">
            <a:solidFill>
              <a:srgbClr val="E87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72584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Speed comparisons require fixed benchmark and FPS policy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1417320"/>
            <a:ext cx="31546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691640"/>
            <a:ext cx="24688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500" b="1">
                <a:solidFill>
                  <a:srgbClr val="3667C7"/>
                </a:solidFill>
                <a:latin typeface="Aptos"/>
              </a:rPr>
              <a:t>Needs / decisions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65592" y="2212848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30183" y="2148840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2-GPU test node for v6 smoke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65592" y="2569464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0183" y="2505456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Final benchmark clips and runtime protocol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65592" y="2926080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0183" y="2862072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Decision on preferred teacher checkpoint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65592" y="3282696"/>
            <a:ext cx="73152" cy="73152"/>
          </a:xfrm>
          <a:prstGeom prst="rect">
            <a:avLst/>
          </a:prstGeom>
          <a:solidFill>
            <a:srgbClr val="3667C7"/>
          </a:solidFill>
          <a:ln w="12700">
            <a:solidFill>
              <a:srgbClr val="366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0183" y="3218688"/>
            <a:ext cx="2441448" cy="4480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80" b="0">
                <a:solidFill>
                  <a:srgbClr val="1C232B"/>
                </a:solidFill>
                <a:latin typeface="Aptos"/>
              </a:rPr>
              <a:t>Author confirmation for Stage2 training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92240"/>
            <a:ext cx="320040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50" b="0">
                <a:solidFill>
                  <a:srgbClr val="566270"/>
                </a:solidFill>
                <a:latin typeface="Aptos"/>
              </a:rPr>
              <a:t>LucidVR / executive 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56627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Roadmap to a usable LucidVR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512" y="1207008"/>
            <a:ext cx="1417320" cy="54864"/>
          </a:xfrm>
          <a:prstGeom prst="rect">
            <a:avLst/>
          </a:prstGeom>
          <a:solidFill>
            <a:srgbClr val="0096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1560" cy="393192"/>
          </a:xfrm>
          <a:prstGeom prst="round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581912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Finish Stage 1 teacher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901952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Continue corrected 17f/89f runs, evaluate checkpoints on fixed synthetic and real 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24328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Next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606040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Validate Stage 2 v6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Run 2-GPU smoke for official chunk mask, block-sparse top-k, causal LR projector.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48456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Then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630168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Train sparse-causal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3950208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Use selected Stage1 teacher initialization; measure quality loss vs speed gain.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72584"/>
            <a:ext cx="1051560" cy="393192"/>
          </a:xfrm>
          <a:prstGeom prst="roundRect">
            <a:avLst/>
          </a:prstGeom>
          <a:solidFill>
            <a:srgbClr val="2A4158"/>
          </a:solidFill>
          <a:ln w="12700">
            <a:solidFill>
              <a:srgbClr val="485F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50" b="1">
                <a:solidFill>
                  <a:srgbClr val="FFFFFF"/>
                </a:solidFill>
                <a:latin typeface="Aptos"/>
              </a:rPr>
              <a:t>Final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654296"/>
            <a:ext cx="39319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Aptos"/>
              </a:rPr>
              <a:t>Distill to one-step LucidVR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974336"/>
            <a:ext cx="804672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20" b="0">
                <a:solidFill>
                  <a:srgbClr val="D5E0EA"/>
                </a:solidFill>
                <a:latin typeface="Aptos"/>
              </a:rPr>
              <a:t>DMD + flow matching + pixel/LPIPS losses for faster inference and detail preservation.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417320"/>
            <a:ext cx="2971800" cy="2103120"/>
          </a:xfrm>
          <a:prstGeom prst="roundRect">
            <a:avLst/>
          </a:prstGeom>
          <a:solidFill>
            <a:srgbClr val="162D44"/>
          </a:solidFill>
          <a:ln w="12700">
            <a:solidFill>
              <a:srgbClr val="3E5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1709928"/>
            <a:ext cx="2286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Executive ask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167127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2103120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Maintain multi-GPU windows for teacher and Stage2 runs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58200" y="2478023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2414015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Use fixed benchmark clips for quality and speed tracking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2788919"/>
            <a:ext cx="73152" cy="73152"/>
          </a:xfrm>
          <a:prstGeom prst="rect">
            <a:avLst/>
          </a:prstGeom>
          <a:solidFill>
            <a:srgbClr val="00967D"/>
          </a:solidFill>
          <a:ln w="12700">
            <a:solidFill>
              <a:srgbClr val="009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22792" y="2724911"/>
            <a:ext cx="2075688" cy="40233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E2EBF3"/>
                </a:solidFill>
                <a:latin typeface="Aptos"/>
              </a:rPr>
              <a:t>Allow short iteration cycles while Stage2 is being verified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420" b="1">
                <a:solidFill>
                  <a:srgbClr val="DCE7F0"/>
                </a:solidFill>
                <a:latin typeface="Aptos"/>
              </a:rPr>
              <a:t>Expected outcome: a fast, streaming-friendly VSR model adapted to internal data distribution, with stronger restoration fidelity than generic video generation baselines.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B4C2C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