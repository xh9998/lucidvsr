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34747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Aptos"/>
              </a:rPr>
              <a:t>LucidVR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353312"/>
            <a:ext cx="1554480" cy="54864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77724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88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Efficient Video Super-Resolution
for Real Degraded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7955279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AE2EB"/>
                </a:solidFill>
                <a:latin typeface="PingFang SC"/>
              </a:rPr>
              <a:t>目标：复现 FlashVSR 的高效视频超分框架，并在内部视频/图像数据上做定制化适配。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051560"/>
            <a:ext cx="2560320" cy="4297680"/>
          </a:xfrm>
          <a:prstGeom prst="roundRect">
            <a:avLst/>
          </a:prstGeom>
          <a:solidFill>
            <a:srgbClr val="152B42"/>
          </a:solidFill>
          <a:ln w="12700">
            <a:solidFill>
              <a:srgbClr val="3A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417320"/>
            <a:ext cx="19202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Why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20208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16568" y="1965960"/>
            <a:ext cx="1719072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BF3"/>
                </a:solidFill>
                <a:latin typeface="PingFang SC"/>
              </a:rPr>
              <a:t>通用生成模型效果强，但容易改人脸/物体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45973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2404872"/>
            <a:ext cx="1719072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BF3"/>
                </a:solidFill>
                <a:latin typeface="PingFang SC"/>
              </a:rPr>
              <a:t>真实退化视频更需要保真、稳定、低延迟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289864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2843784"/>
            <a:ext cx="1719072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BF3"/>
                </a:solidFill>
                <a:latin typeface="PingFang SC"/>
              </a:rPr>
              <a:t>FlashVSR 路线具备流式和速度潜力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99632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4C0CC"/>
                </a:solidFill>
                <a:latin typeface="Aptos"/>
              </a:rPr>
              <a:t>2026-04-30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为什么需要 LucidVR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SeedVR 类通用生成模型可作为强 baseline，但并不天然适合 VSR 生产目标。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468880" cy="242316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627631"/>
            <a:ext cx="21762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LQ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28899"/>
            <a:ext cx="2139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原始退化输入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468880" cy="242316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627631"/>
            <a:ext cx="21762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SeedVR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628899"/>
            <a:ext cx="2139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生成能力强，但可能改脸/改物体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508760"/>
            <a:ext cx="2468880" cy="242316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627631"/>
            <a:ext cx="21762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Desired VSR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628899"/>
            <a:ext cx="2139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更保真、更稳定、更少幻觉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6060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PingFang SC"/>
              </a:rPr>
              <a:t>核心判断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20370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17190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VSR 不是“重画视频”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51460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459736"/>
            <a:ext cx="17190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人脸/物体身份需要稳定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8254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2770632"/>
            <a:ext cx="17190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推理成本需要可控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136391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081527"/>
            <a:ext cx="17190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真实退化输入需要专门适配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17720"/>
            <a:ext cx="10515600" cy="82296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5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55464"/>
            <a:ext cx="10149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D1C2D"/>
                </a:solidFill>
                <a:latin typeface="PingFang SC"/>
              </a:rPr>
              <a:t>LucidVR 的定位：比通用生成式模型更快、更稳定、更适合真实退化输入的 VSR 模型。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最终系统形态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不是单个 demo，而是一条可持续迭代的数据、训练和推理链路。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0">
                <a:solidFill>
                  <a:srgbClr val="191F26"/>
                </a:solidFill>
                <a:latin typeface="PingFang SC"/>
              </a:rPr>
              <a:t>真实退化输入
LQ video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450592"/>
            <a:ext cx="45720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6032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0">
                <a:solidFill>
                  <a:srgbClr val="191F26"/>
                </a:solidFill>
                <a:latin typeface="PingFang SC"/>
              </a:rPr>
              <a:t>退化/数据对齐
training pairs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2450592"/>
            <a:ext cx="457201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1965960"/>
            <a:ext cx="1417320" cy="96012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191F26"/>
                </a:solidFill>
                <a:latin typeface="PingFang SC"/>
              </a:rPr>
              <a:t>LucidVR SR 模型
DiT + LQ Proj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59" y="2450592"/>
            <a:ext cx="594361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4652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0">
                <a:solidFill>
                  <a:srgbClr val="191F26"/>
                </a:solidFill>
                <a:latin typeface="PingFang SC"/>
              </a:rPr>
              <a:t>流式/稀疏推理
fast inference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450592"/>
            <a:ext cx="59436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0">
                <a:solidFill>
                  <a:srgbClr val="191F26"/>
                </a:solidFill>
                <a:latin typeface="PingFang SC"/>
              </a:rPr>
              <a:t>稳定输出
HQ video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1463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PingFang SC"/>
              </a:rPr>
              <a:t>效果目标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2793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224528"/>
            <a:ext cx="21762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保真：减少脸和物体漂移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5079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453128"/>
            <a:ext cx="21762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稳定：减少时序闪烁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7365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681728"/>
            <a:ext cx="21762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细节：对真实退化有效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70332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886200"/>
            <a:ext cx="1463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PingFang SC"/>
              </a:rPr>
              <a:t>效率目标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2793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4224528"/>
            <a:ext cx="21762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比大生成模型更低延迟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5079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4453128"/>
            <a:ext cx="21762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支持后续 streaming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7365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4681728"/>
            <a:ext cx="21762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适合批量视频处理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70332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886200"/>
            <a:ext cx="1463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PingFang SC"/>
              </a:rPr>
              <a:t>交付目标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42793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4224528"/>
            <a:ext cx="1901951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可复现训练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5079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808" y="4453128"/>
            <a:ext cx="1901951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可对比评测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47365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8" y="4681728"/>
            <a:ext cx="1901951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可继续压缩蒸馏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三阶段路线：从效果到速度，再到部署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整体路线参考 FlashVSR，但以内部数据适配和可复现训练为主线。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2971800" cy="73152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514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C2D"/>
                </a:solidFill>
                <a:latin typeface="Aptos"/>
              </a:rPr>
              <a:t>Stage 1
High-quality teacher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" y="284378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788920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Full-attention 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3136391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3081527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LQ Proj-In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" y="3428999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374135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LoRA / projector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" y="3721607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3666744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目标：效果尽量好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0020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600200"/>
            <a:ext cx="2971800" cy="73152"/>
          </a:xfrm>
          <a:prstGeom prst="rect">
            <a:avLst/>
          </a:prstGeom>
          <a:solidFill>
            <a:srgbClr val="436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874519"/>
            <a:ext cx="2514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C2D"/>
                </a:solidFill>
                <a:latin typeface="Aptos"/>
              </a:rPr>
              <a:t>Stage 2
Sparse-causal adaptation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2843784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788920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Causal LR projector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4568" y="3136391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3081527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Chunk-level mask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4568" y="3428999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3374135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Block-sparse top-k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721607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5736" y="3666744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目标：加速且少损伤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60020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1600200"/>
            <a:ext cx="2971800" cy="73152"/>
          </a:xfrm>
          <a:prstGeom prst="rect">
            <a:avLst/>
          </a:prstGeom>
          <a:solidFill>
            <a:srgbClr val="EE8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874519"/>
            <a:ext cx="2514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C2D"/>
                </a:solidFill>
                <a:latin typeface="Aptos"/>
              </a:rPr>
              <a:t>Stage 3
Distillation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0728" y="2843784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788920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One-step student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0728" y="3136391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081527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FM / DMD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0728" y="3428999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3374135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Pixel loss / LPIPS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0728" y="3721607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1896" y="3666744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目标：更快且保持连续性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57600" y="3337560"/>
            <a:ext cx="594360" cy="0"/>
          </a:xfrm>
          <a:prstGeom prst="line">
            <a:avLst/>
          </a:prstGeom>
          <a:ln w="25400">
            <a:solidFill>
              <a:srgbClr val="363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23760" y="3337560"/>
            <a:ext cx="594360" cy="0"/>
          </a:xfrm>
          <a:prstGeom prst="line">
            <a:avLst/>
          </a:prstGeom>
          <a:ln w="25400">
            <a:solidFill>
              <a:srgbClr val="363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0120" y="5596128"/>
            <a:ext cx="10012680" cy="50292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5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742432"/>
            <a:ext cx="9601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当前重点：Stage 1 修正后继续训练，同时 Stage 2 v6 已完成设计与代码骨架，等待 smoke 验证。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Stage 1：蒸馏母本 /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目标是先得到效果足够好的高质量母本，再进入稀疏因果加速。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PingFang SC"/>
              </a:rPr>
              <a:t>已完成的关键工程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240280"/>
            <a:ext cx="427939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复现 FlashVSR Stage1 训练链路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61518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560320"/>
            <a:ext cx="427939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接入内部视频与图像数据源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9352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880360"/>
            <a:ext cx="427939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实现 image/video 分支分离与 packed attention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25526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200400"/>
            <a:ext cx="427939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修正 LQ projector 与 WAN VAE 时间维对齐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57530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520440"/>
            <a:ext cx="427939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加入 Aliyun 风格真实退化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074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783080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PingFang SC"/>
              </a:rPr>
              <a:t>当前正确对齐规则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240280"/>
            <a:ext cx="40965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17 帧：GT / LQ latent 均为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64261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2587752"/>
            <a:ext cx="40965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89 帧：GT / LQ latent 均为 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99008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2935224"/>
            <a:ext cx="40965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图像支路：单图构成 5 帧 pseudo-video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33756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282696"/>
            <a:ext cx="409651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91F26"/>
                </a:solidFill>
                <a:latin typeface="PingFang SC"/>
              </a:rPr>
              <a:t>video / image 分别过 VAE 与 projector，再在 token 层组合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3434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471416"/>
            <a:ext cx="1783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977E"/>
                </a:solidFill>
                <a:latin typeface="PingFang SC"/>
              </a:rPr>
              <a:t>≈99%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846320"/>
            <a:ext cx="1783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574"/>
                </a:solidFill>
                <a:latin typeface="PingFang SC"/>
              </a:rPr>
              <a:t>当前 48 卡利用率采样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3434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471416"/>
            <a:ext cx="1783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977E"/>
                </a:solidFill>
                <a:latin typeface="PingFang SC"/>
              </a:rPr>
              <a:t>≈93–95%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846320"/>
            <a:ext cx="1783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574"/>
                </a:solidFill>
                <a:latin typeface="PingFang SC"/>
              </a:rPr>
              <a:t>当前 16 卡利用率采样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数据与退化：适配真实输入，而不是只跑公开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数据链路是 LucidVR 和通用模型最大的差异之一。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2194560" cy="411480"/>
          </a:xfrm>
          <a:prstGeom prst="rect">
            <a:avLst/>
          </a:prstGeom>
          <a:solidFill>
            <a:srgbClr val="0D1C2D"/>
          </a:solidFill>
          <a:ln w="127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00200"/>
            <a:ext cx="2423160" cy="411480"/>
          </a:xfrm>
          <a:prstGeom prst="rect">
            <a:avLst/>
          </a:prstGeom>
          <a:solidFill>
            <a:srgbClr val="0D1C2D"/>
          </a:solidFill>
          <a:ln w="127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600200"/>
            <a:ext cx="5303520" cy="411480"/>
          </a:xfrm>
          <a:prstGeom prst="rect">
            <a:avLst/>
          </a:prstGeom>
          <a:solidFill>
            <a:srgbClr val="0D1C2D"/>
          </a:solidFill>
          <a:ln w="127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Yubari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05740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video 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205740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主视频训练分布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Takano video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24231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video 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560320"/>
            <a:ext cx="530352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补充视频内容与运动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Takano 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06324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image tar / manifest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306324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高质量图像 pseudo-video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21945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Aliyun degradation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566160"/>
            <a:ext cx="24231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synthetic LQ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566160"/>
            <a:ext cx="530352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80" b="0">
                <a:solidFill>
                  <a:srgbClr val="191F26"/>
                </a:solidFill>
                <a:latin typeface="PingFang SC"/>
              </a:rPr>
              <a:t>模拟压缩、噪声、模糊等真实退化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332720" cy="105156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5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507992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1C2D"/>
                </a:solidFill>
                <a:latin typeface="PingFang SC"/>
              </a:rPr>
              <a:t>关键点：内部数据不是简单混入训练。帧数、latent 时间维、image pseudo-video、退化输出尺寸必须和模型结构严格对齐，否则会导致 loss 异常、运动变差或推理错位。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模型框架与技术路线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核心是把 FlashVSR 的高效结构迁移到 LucidVR 数据与训练体系。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554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91F26"/>
                </a:solidFill>
                <a:latin typeface="PingFang SC"/>
              </a:rPr>
              <a:t>LQ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00200"/>
            <a:ext cx="1920240" cy="123444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91F26"/>
                </a:solidFill>
                <a:latin typeface="PingFang SC"/>
              </a:rPr>
              <a:t>LQ Proj-In
3D conv + linear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2011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91F26"/>
                </a:solidFill>
                <a:latin typeface="PingFang SC"/>
              </a:rPr>
              <a:t>WAN DiT
LoRA adapted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0020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91F26"/>
                </a:solidFill>
                <a:latin typeface="PingFang SC"/>
              </a:rPr>
              <a:t>VAE decoder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874519"/>
            <a:ext cx="1417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191F26"/>
                </a:solidFill>
                <a:latin typeface="PingFang SC"/>
              </a:rPr>
              <a:t>SR video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267712"/>
            <a:ext cx="50292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2267712"/>
            <a:ext cx="59436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9480" y="2267712"/>
            <a:ext cx="59436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46920" y="2267712"/>
            <a:ext cx="41148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3794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39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77E"/>
                </a:solidFill>
                <a:latin typeface="PingFang SC"/>
              </a:rPr>
              <a:t>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2331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Full attention teacher；效果优先，使用内部多源数据适配。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94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977639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36FCE"/>
                </a:solidFill>
                <a:latin typeface="PingFang SC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43400"/>
            <a:ext cx="2331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替换 self-attention 为 sparse-causal block attention，速度优先。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794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E8145"/>
                </a:solidFill>
                <a:latin typeface="PingFang SC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43400"/>
            <a:ext cx="2331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蒸馏为快速 student，并加入 pixel/LPIPS 保持细节。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当前效果展示：建议放两组强对比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本页后续替换为真实截图/视频帧，重点展示“速度 + 保真”。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Case A: LQ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替换为截图 / 视频帧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SeedVR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生成强，但可能改内容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FlashVSR / LucidVR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更稳定、更保真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2983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GT /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如有 GT 则放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148840" cy="16002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822191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Case B: LQ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411980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替换为截图 / 视频帧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703320"/>
            <a:ext cx="2148840" cy="16002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8104" y="3822191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SeedVR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4411980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替换为截图 / 视频帧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3703320"/>
            <a:ext cx="2148840" cy="16002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3822191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PingFang SC"/>
              </a:rPr>
              <a:t>LucidVR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1" y="4411980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PingFang SC"/>
              </a:rPr>
              <a:t>替换为截图 / 视频帧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703320"/>
            <a:ext cx="2971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8620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PingFang SC"/>
              </a:rPr>
              <a:t>需要补充数字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3068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4251960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SeedVR 3B/7B 推理时间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452628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471416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FlashVSR / LucidVR 推理时间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74573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4690872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模型大小 / 显存 / fps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49651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910328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F26"/>
                </a:solidFill>
                <a:latin typeface="PingFang SC"/>
              </a:rPr>
              <a:t>相同输入、相同输出 fps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PingFang SC"/>
              </a:rPr>
              <a:t>进度、风险与缺口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058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574"/>
                </a:solidFill>
                <a:latin typeface="PingFang SC"/>
              </a:rPr>
              <a:t>汇报重点：当前方向清楚，主要风险集中在训练对齐和 Stage2 结构验证。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280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77E"/>
                </a:solidFill>
                <a:latin typeface="PingFang SC"/>
              </a:rPr>
              <a:t>已完成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240280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Stage1 训练链路可运行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62432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569464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内部数据与退化已接入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95351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898648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17f / 89f 时间维对齐已修正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2826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227832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多机训练与 GPU 利用率已优化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0876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783080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36FCE"/>
                </a:solidFill>
                <a:latin typeface="PingFang SC"/>
              </a:rPr>
              <a:t>正在推进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2240280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Stage1 最优 teacher 配置选择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62432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2569464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Stage2 v6 sparse-causal smoke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95351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8" y="2898648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效果与速度统一评测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2826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3227832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外部对比：SeedVR / FlashVSR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150876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783080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E8145"/>
                </a:solidFill>
                <a:latin typeface="PingFang SC"/>
              </a:rPr>
              <a:t>需要支持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8" y="2240280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稳定 GPU 资源窗口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62432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9368" y="2569464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固定测试集和速度指标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95351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2898648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明确真实退化输入范围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32826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3227832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PingFang SC"/>
              </a:rPr>
              <a:t>Stage2 细节与作者确认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PingFang SC"/>
              </a:rPr>
              <a:t>LucidVR / confidential working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ptos"/>
              </a:rPr>
              <a:t>Roadmap to a usable LucidVR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34440"/>
            <a:ext cx="1371600" cy="54864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960120" cy="411480"/>
          </a:xfrm>
          <a:prstGeom prst="round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673352"/>
            <a:ext cx="3657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Stage1 teacher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01168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PingFang SC"/>
              </a:rPr>
              <a:t>完成正确对齐版本训练；选择最佳 teacher checkpoint。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960120" cy="411480"/>
          </a:xfrm>
          <a:prstGeom prst="roundRect">
            <a:avLst/>
          </a:prstGeom>
          <a:solidFill>
            <a:srgbClr val="2B4158"/>
          </a:solidFill>
          <a:ln w="12700">
            <a:solidFill>
              <a:srgbClr val="465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679192"/>
            <a:ext cx="3657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Stage2 sparse-causal adaptation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1752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PingFang SC"/>
              </a:rPr>
              <a:t>接入官方 chunk mask 与 block-sparse top-k，验证速度收益。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03320"/>
            <a:ext cx="960120" cy="411480"/>
          </a:xfrm>
          <a:prstGeom prst="roundRect">
            <a:avLst/>
          </a:prstGeom>
          <a:solidFill>
            <a:srgbClr val="2B4158"/>
          </a:solidFill>
          <a:ln w="12700">
            <a:solidFill>
              <a:srgbClr val="465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685032"/>
            <a:ext cx="3657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Stage3 distillation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02336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PingFang SC"/>
              </a:rPr>
              <a:t>蒸馏为更快 student，并用 pixel-level loss 提升细节。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09160"/>
            <a:ext cx="960120" cy="411480"/>
          </a:xfrm>
          <a:prstGeom prst="roundRect">
            <a:avLst/>
          </a:prstGeom>
          <a:solidFill>
            <a:srgbClr val="2B4158"/>
          </a:solidFill>
          <a:ln w="12700">
            <a:solidFill>
              <a:srgbClr val="465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690872"/>
            <a:ext cx="3657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Evaluation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02920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PingFang SC"/>
              </a:rPr>
              <a:t>固定测试集、速度/显存/质量对比、可复现脚本。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2926080" cy="2194560"/>
          </a:xfrm>
          <a:prstGeom prst="roundRect">
            <a:avLst/>
          </a:prstGeom>
          <a:solidFill>
            <a:srgbClr val="152B42"/>
          </a:solidFill>
          <a:ln w="12700">
            <a:solidFill>
              <a:srgbClr val="3A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3736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Executive 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20370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148840"/>
            <a:ext cx="19476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BF3"/>
                </a:solidFill>
                <a:latin typeface="PingFang SC"/>
              </a:rPr>
              <a:t>继续保留多机训练资源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51460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8" y="2459736"/>
            <a:ext cx="19476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BF3"/>
                </a:solidFill>
                <a:latin typeface="PingFang SC"/>
              </a:rPr>
              <a:t>用固定测试集评估质量与速度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8254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9368" y="2770632"/>
            <a:ext cx="19476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BF3"/>
                </a:solidFill>
                <a:latin typeface="PingFang SC"/>
              </a:rPr>
              <a:t>Stage2 关键细节完成后进入加速验证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80760"/>
            <a:ext cx="106984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CE7F0"/>
                </a:solidFill>
                <a:latin typeface="Aptos"/>
              </a:rPr>
              <a:t>Expected outcome: a fast, streaming-friendly VSR model adapted to internal data distribution.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4C0CC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