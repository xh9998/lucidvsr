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34747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Aptos"/>
              </a:rPr>
              <a:t>LucidVR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353312"/>
            <a:ext cx="1554480" cy="54864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804672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88000"/>
              </a:lnSpc>
            </a:pPr>
            <a:r>
              <a:rPr sz="2800" b="1">
                <a:solidFill>
                  <a:srgbClr val="FFFFFF"/>
                </a:solidFill>
                <a:latin typeface="Aptos"/>
              </a:rPr>
              <a:t>Efficient Video Super-Resolution
for Real Degraded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81381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AE2EB"/>
                </a:solidFill>
                <a:latin typeface="Aptos"/>
              </a:rPr>
              <a:t>Goal: reproduce the FlashVSR efficiency path and adapt it to internal video/image data distributions.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051560"/>
            <a:ext cx="2560320" cy="4297680"/>
          </a:xfrm>
          <a:prstGeom prst="roundRect">
            <a:avLst/>
          </a:prstGeom>
          <a:solidFill>
            <a:srgbClr val="152B42"/>
          </a:solidFill>
          <a:ln w="12700">
            <a:solidFill>
              <a:srgbClr val="3A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417320"/>
            <a:ext cx="2011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Why this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0" y="202082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16568" y="1965960"/>
            <a:ext cx="1764792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E2EBF3"/>
                </a:solidFill>
                <a:latin typeface="Aptos"/>
              </a:rPr>
              <a:t>Generic generative models may alter identity or objects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247802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2423160"/>
            <a:ext cx="1764792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E2EBF3"/>
                </a:solidFill>
                <a:latin typeface="Aptos"/>
              </a:rPr>
              <a:t>Real degraded videos need fidelity and stability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293522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568" y="2880360"/>
            <a:ext cx="1764792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E2EBF3"/>
                </a:solidFill>
                <a:latin typeface="Aptos"/>
              </a:rPr>
              <a:t>FlashVSR offers a practical path to low-latency VSR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99632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4C0CC"/>
                </a:solidFill>
                <a:latin typeface="Aptos"/>
              </a:rPr>
              <a:t>April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Aptos"/>
              </a:rPr>
              <a:t>Why LucidVR, not only a generic video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424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A6574"/>
                </a:solidFill>
                <a:latin typeface="Aptos"/>
              </a:rPr>
              <a:t>SeedVR-like models are strong baselines, but they are not automatically aligned with production VSR requirements.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468880" cy="242316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627631"/>
            <a:ext cx="21762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LQ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28899"/>
            <a:ext cx="21396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Real degraded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468880" cy="242316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1627631"/>
            <a:ext cx="21762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SeedVR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628899"/>
            <a:ext cx="21396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Strong generation, but may change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508760"/>
            <a:ext cx="2468880" cy="242316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627631"/>
            <a:ext cx="21762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Target VSR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628899"/>
            <a:ext cx="213969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More faithful and stable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17320"/>
            <a:ext cx="26060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37360"/>
            <a:ext cx="1920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1C2D"/>
                </a:solidFill>
                <a:latin typeface="Aptos"/>
              </a:rPr>
              <a:t>Key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20370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48840"/>
            <a:ext cx="176479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VSR should not redraw the video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514600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459736"/>
            <a:ext cx="176479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Faces and objects should remain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8254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2770632"/>
            <a:ext cx="176479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Latency and throughput must be practical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3136391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3081527"/>
            <a:ext cx="176479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The model must match real degradation patterns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17720"/>
            <a:ext cx="10515600" cy="82296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B5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55464"/>
            <a:ext cx="10149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1C2D"/>
                </a:solidFill>
                <a:latin typeface="Aptos"/>
              </a:rPr>
              <a:t>LucidVR target: faster, more stable, and better matched to real degraded inputs than generic generative baselines.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Aptos"/>
              </a:rPr>
              <a:t>LucidVR / confidential working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Aptos"/>
              </a:rPr>
              <a:t>Target system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424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A6574"/>
                </a:solidFill>
                <a:latin typeface="Aptos"/>
              </a:rPr>
              <a:t>The deliverable is a repeatable data, training, and inference pipeline, not a single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20" b="0">
                <a:solidFill>
                  <a:srgbClr val="191F26"/>
                </a:solidFill>
                <a:latin typeface="Aptos"/>
              </a:rPr>
              <a:t>Real degraded
LQ video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450592"/>
            <a:ext cx="45720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60320" y="196596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20" b="0">
                <a:solidFill>
                  <a:srgbClr val="191F26"/>
                </a:solidFill>
                <a:latin typeface="Aptos"/>
              </a:rPr>
              <a:t>Degradation-aware
training pairs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2450592"/>
            <a:ext cx="457201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34840" y="1965960"/>
            <a:ext cx="1417320" cy="96012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20" b="1">
                <a:solidFill>
                  <a:srgbClr val="191F26"/>
                </a:solidFill>
                <a:latin typeface="Aptos"/>
              </a:rPr>
              <a:t>LucidVR SR model
DiT + LQ Proj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59" y="2450592"/>
            <a:ext cx="594361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46520" y="196596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20" b="0">
                <a:solidFill>
                  <a:srgbClr val="191F26"/>
                </a:solidFill>
                <a:latin typeface="Aptos"/>
              </a:rPr>
              <a:t>Sparse / streaming
inference path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2450592"/>
            <a:ext cx="59436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58200" y="196596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2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20" b="0">
                <a:solidFill>
                  <a:srgbClr val="191F26"/>
                </a:solidFill>
                <a:latin typeface="Aptos"/>
              </a:rPr>
              <a:t>Stable
HQ video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017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1C2D"/>
                </a:solidFill>
                <a:latin typeface="Aptos"/>
              </a:rPr>
              <a:t>Quality goals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2793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224528"/>
            <a:ext cx="231343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Fidelity: less identity/object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5079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453128"/>
            <a:ext cx="231343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Stability: less temporal flicker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7365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4681728"/>
            <a:ext cx="231343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Detail: robust to real degradation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703320"/>
            <a:ext cx="30175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886200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1C2D"/>
                </a:solidFill>
                <a:latin typeface="Aptos"/>
              </a:rPr>
              <a:t>Efficiency goals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2793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4224528"/>
            <a:ext cx="231343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Lower latency than large generators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5079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4453128"/>
            <a:ext cx="231343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Streaming-friendly architecture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47365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4681728"/>
            <a:ext cx="231343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Suitable for batch video processing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703320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886200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D1C2D"/>
                </a:solidFill>
                <a:latin typeface="Aptos"/>
              </a:rPr>
              <a:t>Delivery goals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9640" y="42793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4224528"/>
            <a:ext cx="19476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Reproducible training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5079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0808" y="4453128"/>
            <a:ext cx="19476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Fixed evaluation package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47365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0808" y="4681728"/>
            <a:ext cx="194767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Distillation-ready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Aptos"/>
              </a:rPr>
              <a:t>LucidVR / confidential working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Aptos"/>
              </a:rPr>
              <a:t>Three-stage roadmap: quality first, then speed, then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424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A6574"/>
                </a:solidFill>
                <a:latin typeface="Aptos"/>
              </a:rPr>
              <a:t>The route follows the FlashVSR philosophy, with internal-data adaptation as the main differentiator.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971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2971800" cy="73152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514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D1C2D"/>
                </a:solidFill>
                <a:latin typeface="Aptos"/>
              </a:rPr>
              <a:t>Stage 1
High-quality teacher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" y="284378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2788920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Full-attention 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" y="3136391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9576" y="3081527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LQ Proj-In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" y="3428999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3374135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LoRA / projector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" y="3721607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" y="3666744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Goal: maximize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600200"/>
            <a:ext cx="2971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600200"/>
            <a:ext cx="2971800" cy="73152"/>
          </a:xfrm>
          <a:prstGeom prst="rect">
            <a:avLst/>
          </a:prstGeom>
          <a:solidFill>
            <a:srgbClr val="436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874519"/>
            <a:ext cx="2514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D1C2D"/>
                </a:solidFill>
                <a:latin typeface="Aptos"/>
              </a:rPr>
              <a:t>Stage 2
Sparse-causal adaptation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2843784"/>
            <a:ext cx="91440" cy="91440"/>
          </a:xfrm>
          <a:prstGeom prst="rect">
            <a:avLst/>
          </a:prstGeom>
          <a:solidFill>
            <a:srgbClr val="436FCE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6" y="2788920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Causal LR projector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44568" y="3136391"/>
            <a:ext cx="91440" cy="91440"/>
          </a:xfrm>
          <a:prstGeom prst="rect">
            <a:avLst/>
          </a:prstGeom>
          <a:solidFill>
            <a:srgbClr val="436FCE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3081527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Chunk-level mask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44568" y="3428999"/>
            <a:ext cx="91440" cy="91440"/>
          </a:xfrm>
          <a:prstGeom prst="rect">
            <a:avLst/>
          </a:prstGeom>
          <a:solidFill>
            <a:srgbClr val="436FCE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736" y="3374135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Block-sparse top-k attention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44568" y="3721607"/>
            <a:ext cx="91440" cy="91440"/>
          </a:xfrm>
          <a:prstGeom prst="rect">
            <a:avLst/>
          </a:prstGeom>
          <a:solidFill>
            <a:srgbClr val="436FCE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5736" y="3666744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Goal: speed with limited quality loss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600200"/>
            <a:ext cx="29718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1600200"/>
            <a:ext cx="2971800" cy="73152"/>
          </a:xfrm>
          <a:prstGeom prst="rect">
            <a:avLst/>
          </a:prstGeom>
          <a:solidFill>
            <a:srgbClr val="EE8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1874519"/>
            <a:ext cx="2514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D1C2D"/>
                </a:solidFill>
                <a:latin typeface="Aptos"/>
              </a:rPr>
              <a:t>Stage 3
Distillation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0728" y="2843784"/>
            <a:ext cx="91440" cy="91440"/>
          </a:xfrm>
          <a:prstGeom prst="rect">
            <a:avLst/>
          </a:prstGeom>
          <a:solidFill>
            <a:srgbClr val="EE8145"/>
          </a:solidFill>
          <a:ln w="12700">
            <a:solidFill>
              <a:srgbClr val="EE8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2788920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One-step student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0728" y="3136391"/>
            <a:ext cx="91440" cy="91440"/>
          </a:xfrm>
          <a:prstGeom prst="rect">
            <a:avLst/>
          </a:prstGeom>
          <a:solidFill>
            <a:srgbClr val="EE8145"/>
          </a:solidFill>
          <a:ln w="12700">
            <a:solidFill>
              <a:srgbClr val="EE8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081527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FM / DMD objectives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0728" y="3428999"/>
            <a:ext cx="91440" cy="91440"/>
          </a:xfrm>
          <a:prstGeom prst="rect">
            <a:avLst/>
          </a:prstGeom>
          <a:solidFill>
            <a:srgbClr val="EE8145"/>
          </a:solidFill>
          <a:ln w="12700">
            <a:solidFill>
              <a:srgbClr val="EE8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1896" y="3374135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Pixel loss / LPIPS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0728" y="3721607"/>
            <a:ext cx="91440" cy="91440"/>
          </a:xfrm>
          <a:prstGeom prst="rect">
            <a:avLst/>
          </a:prstGeom>
          <a:solidFill>
            <a:srgbClr val="EE8145"/>
          </a:solidFill>
          <a:ln w="12700">
            <a:solidFill>
              <a:srgbClr val="EE8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1896" y="3666744"/>
            <a:ext cx="2130551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191F26"/>
                </a:solidFill>
                <a:latin typeface="Aptos"/>
              </a:rPr>
              <a:t>Goal: fast and temporally stable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657600" y="3337560"/>
            <a:ext cx="594360" cy="0"/>
          </a:xfrm>
          <a:prstGeom prst="line">
            <a:avLst/>
          </a:prstGeom>
          <a:ln w="25400">
            <a:solidFill>
              <a:srgbClr val="363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23760" y="3337560"/>
            <a:ext cx="594360" cy="0"/>
          </a:xfrm>
          <a:prstGeom prst="line">
            <a:avLst/>
          </a:prstGeom>
          <a:ln w="25400">
            <a:solidFill>
              <a:srgbClr val="363F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60120" y="5596128"/>
            <a:ext cx="10012680" cy="50292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B5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742432"/>
            <a:ext cx="9601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Current focus: train the corrected Stage 1 teacher while preparing Stage 2 v6 sparse-causal validation.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Aptos"/>
              </a:rPr>
              <a:t>LucidVR / confidential working draft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Aptos"/>
              </a:rPr>
              <a:t>Stage 1: high-quality teacher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424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A6574"/>
                </a:solidFill>
                <a:latin typeface="Aptos"/>
              </a:rPr>
              <a:t>This stage builds the quality anchor before sparse-causal acceleration.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D1C2D"/>
                </a:solidFill>
                <a:latin typeface="Aptos"/>
              </a:rPr>
              <a:t>Completed engineering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240280"/>
            <a:ext cx="437083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Aptos"/>
              </a:rPr>
              <a:t>Reproduced the FlashVSR Stage 1 training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61518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560320"/>
            <a:ext cx="437083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Aptos"/>
              </a:rPr>
              <a:t>Integrated internal video and image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93522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880360"/>
            <a:ext cx="437083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Aptos"/>
              </a:rPr>
              <a:t>Separated video and image branches before token packing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25526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200400"/>
            <a:ext cx="437083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Aptos"/>
              </a:rPr>
              <a:t>Fixed temporal alignment between LQ projector and WAN VAE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57530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520440"/>
            <a:ext cx="4370832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91F26"/>
                </a:solidFill>
                <a:latin typeface="Aptos"/>
              </a:rPr>
              <a:t>Added Aliyun-style real-world degradation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50749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783080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D1C2D"/>
                </a:solidFill>
                <a:latin typeface="Aptos"/>
              </a:rPr>
              <a:t>Current alignment rule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240280"/>
            <a:ext cx="414223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91F26"/>
                </a:solidFill>
                <a:latin typeface="Aptos"/>
              </a:rPr>
              <a:t>17 frames: GT and LQ both map to 5 latent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64261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2587752"/>
            <a:ext cx="414223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91F26"/>
                </a:solidFill>
                <a:latin typeface="Aptos"/>
              </a:rPr>
              <a:t>89 frames: GT and LQ both map to 23 latent steps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99008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2935224"/>
            <a:ext cx="414223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91F26"/>
                </a:solidFill>
                <a:latin typeface="Aptos"/>
              </a:rPr>
              <a:t>Image branch: one image becomes a 5-frame pseudo-video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3337560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3282696"/>
            <a:ext cx="414223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91F26"/>
                </a:solidFill>
                <a:latin typeface="Aptos"/>
              </a:rPr>
              <a:t>Video/image branches pass VAE/projector separately, then merge at token level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4343400"/>
            <a:ext cx="2057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471416"/>
            <a:ext cx="17830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977E"/>
                </a:solidFill>
                <a:latin typeface="Aptos"/>
              </a:rPr>
              <a:t>~99%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846320"/>
            <a:ext cx="1783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574"/>
                </a:solidFill>
                <a:latin typeface="Aptos"/>
              </a:rPr>
              <a:t>48-GPU utilization sample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4343400"/>
            <a:ext cx="2057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4471416"/>
            <a:ext cx="17830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977E"/>
                </a:solidFill>
                <a:latin typeface="Aptos"/>
              </a:rPr>
              <a:t>~93–95%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846320"/>
            <a:ext cx="1783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574"/>
                </a:solidFill>
                <a:latin typeface="Aptos"/>
              </a:rPr>
              <a:t>16-GPU utilization sample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Aptos"/>
              </a:rPr>
              <a:t>LucidVR / confidential working 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Aptos"/>
              </a:rPr>
              <a:t>Data and degradation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424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A6574"/>
                </a:solidFill>
                <a:latin typeface="Aptos"/>
              </a:rPr>
              <a:t>LucidVR is built around internal data distribution and real-degradation simulation.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2194560" cy="411480"/>
          </a:xfrm>
          <a:prstGeom prst="rect">
            <a:avLst/>
          </a:prstGeom>
          <a:solidFill>
            <a:srgbClr val="0D1C2D"/>
          </a:solidFill>
          <a:ln w="127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00200"/>
            <a:ext cx="2423160" cy="411480"/>
          </a:xfrm>
          <a:prstGeom prst="rect">
            <a:avLst/>
          </a:prstGeom>
          <a:solidFill>
            <a:srgbClr val="0D1C2D"/>
          </a:solidFill>
          <a:ln w="127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600200"/>
            <a:ext cx="5303520" cy="411480"/>
          </a:xfrm>
          <a:prstGeom prst="rect">
            <a:avLst/>
          </a:prstGeom>
          <a:solidFill>
            <a:srgbClr val="0D1C2D"/>
          </a:solidFill>
          <a:ln w="127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Yubari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05740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video 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205740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Main video training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Takano video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242316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video 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560320"/>
            <a:ext cx="530352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Additional content and motion diversity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Takano image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063240"/>
            <a:ext cx="2423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image tar / manifest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3063240"/>
            <a:ext cx="5303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High-quality image pseudo-video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219456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Aliyun degradation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566160"/>
            <a:ext cx="242316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synthetic LQ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566160"/>
            <a:ext cx="5303520" cy="45720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50" b="0">
                <a:solidFill>
                  <a:srgbClr val="191F26"/>
                </a:solidFill>
                <a:latin typeface="Aptos"/>
              </a:rPr>
              <a:t>Compression, blur, noise, and video artifacts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332720" cy="105156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B5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507992"/>
            <a:ext cx="9875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Key lesson: data cannot simply be mixed in. Frame counts, latent-time alignment, image pseudo-video packing, and degradation output size must match the model exactly.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Aptos"/>
              </a:rPr>
              <a:t>LucidVR / confidential working 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Aptos"/>
              </a:rPr>
              <a:t>Model architecture and technical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424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A6574"/>
                </a:solidFill>
                <a:latin typeface="Aptos"/>
              </a:rPr>
              <a:t>The approach keeps the efficient FlashVSR structure while adapting it to LucidVR data and training needs.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554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>
                <a:solidFill>
                  <a:srgbClr val="191F26"/>
                </a:solidFill>
                <a:latin typeface="Aptos"/>
              </a:rPr>
              <a:t>LQ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00200"/>
            <a:ext cx="1920240" cy="1234440"/>
          </a:xfrm>
          <a:prstGeom prst="roundRect">
            <a:avLst/>
          </a:prstGeom>
          <a:solidFill>
            <a:srgbClr val="E0F5EF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>
                <a:solidFill>
                  <a:srgbClr val="191F26"/>
                </a:solidFill>
                <a:latin typeface="Aptos"/>
              </a:rPr>
              <a:t>LQ Proj-In
3D conv + linear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417320"/>
            <a:ext cx="2011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6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>
                <a:solidFill>
                  <a:srgbClr val="191F26"/>
                </a:solidFill>
                <a:latin typeface="Aptos"/>
              </a:rPr>
              <a:t>WAN DiT
LoRA adapted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00200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>
                <a:solidFill>
                  <a:srgbClr val="191F26"/>
                </a:solidFill>
                <a:latin typeface="Aptos"/>
              </a:rPr>
              <a:t>VAE decoder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874519"/>
            <a:ext cx="1417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 b="1">
                <a:solidFill>
                  <a:srgbClr val="191F26"/>
                </a:solidFill>
                <a:latin typeface="Aptos"/>
              </a:rPr>
              <a:t>SR video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267712"/>
            <a:ext cx="50292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3440" y="2267712"/>
            <a:ext cx="59436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69480" y="2267712"/>
            <a:ext cx="59436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46920" y="2267712"/>
            <a:ext cx="411480" cy="0"/>
          </a:xfrm>
          <a:prstGeom prst="line">
            <a:avLst/>
          </a:prstGeom>
          <a:ln w="25400">
            <a:solidFill>
              <a:srgbClr val="009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379476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39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77E"/>
                </a:solidFill>
                <a:latin typeface="Aptos"/>
              </a:rPr>
              <a:t>Stage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2331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91F26"/>
                </a:solidFill>
                <a:latin typeface="Aptos"/>
              </a:rPr>
              <a:t>Full-attention teacher; quality-first adaptation on internal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79476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977639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36FCE"/>
                </a:solidFill>
                <a:latin typeface="Aptos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43400"/>
            <a:ext cx="2331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91F26"/>
                </a:solidFill>
                <a:latin typeface="Aptos"/>
              </a:rPr>
              <a:t>Replace self-attention with sparse-causal block attention for speed.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79476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39"/>
            <a:ext cx="1371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E8145"/>
                </a:solidFill>
                <a:latin typeface="Aptos"/>
              </a:rP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343400"/>
            <a:ext cx="2331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30" b="0">
                <a:solidFill>
                  <a:srgbClr val="191F26"/>
                </a:solidFill>
                <a:latin typeface="Aptos"/>
              </a:rPr>
              <a:t>Distill into a faster student while preserving detail and continuity.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Aptos"/>
              </a:rPr>
              <a:t>LucidVR / confidential working 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Aptos"/>
              </a:rPr>
              <a:t>Result slides to replace with selected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424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A6574"/>
                </a:solidFill>
                <a:latin typeface="Aptos"/>
              </a:rPr>
              <a:t>Use two strong comparisons: one showing SeedVR content drift, one showing LucidVR fidelity/stability.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148840" cy="18288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536192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Case A: LQ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40279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17320"/>
            <a:ext cx="2148840" cy="18288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1536192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SeedVR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240279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May alter identity/object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417320"/>
            <a:ext cx="2148840" cy="18288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95544" y="1536192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LucidVR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1" y="2240279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More faithful VSR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417320"/>
            <a:ext cx="2148840" cy="18288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2983" y="1536192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Reference / GT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2240279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If available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2148840" cy="16002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822191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Case B: LQ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411980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Replace with result frame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3703320"/>
            <a:ext cx="2148840" cy="16002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8104" y="3822191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SeedVR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4411980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Replace with result frame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3703320"/>
            <a:ext cx="2148840" cy="1600200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BEC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3822191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1C2D"/>
                </a:solidFill>
                <a:latin typeface="Aptos"/>
              </a:rPr>
              <a:t>LucidVR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1" y="4411980"/>
            <a:ext cx="181965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574"/>
                </a:solidFill>
                <a:latin typeface="Aptos"/>
              </a:rPr>
              <a:t>Replace with result frame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3703320"/>
            <a:ext cx="2971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8620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C2D"/>
                </a:solidFill>
                <a:latin typeface="Aptos"/>
              </a:rPr>
              <a:t>Numbers to add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30682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4251960"/>
            <a:ext cx="194767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SeedVR 3B / 7B runtime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4526280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4471416"/>
            <a:ext cx="194767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FlashVSR / LucidVR runtime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474573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4690872"/>
            <a:ext cx="194767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Model size / VRAM / FPS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496519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4910328"/>
            <a:ext cx="1947672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191F26"/>
                </a:solidFill>
                <a:latin typeface="Aptos"/>
              </a:rPr>
              <a:t>Same input and same output FPS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Aptos"/>
              </a:rPr>
              <a:t>LucidVR / confidential working draft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D1C2D"/>
                </a:solidFill>
                <a:latin typeface="Aptos"/>
              </a:rPr>
              <a:t>Progress, risks, and what is still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41248"/>
            <a:ext cx="104241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5A6574"/>
                </a:solidFill>
                <a:latin typeface="Aptos"/>
              </a:rPr>
              <a:t>The direction is clear; remaining risks are concentrated in training alignment and Stage 2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43000"/>
            <a:ext cx="1051560" cy="36576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463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977E"/>
                </a:solidFill>
                <a:latin typeface="Aptos"/>
              </a:rPr>
              <a:t>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240280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Stage 1 training path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62432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569464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Internal data and degradation are integrated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95351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2898648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17f / 89f latent-time alignment is fixed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2826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227832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Multi-node training utilization is improved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50876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1783080"/>
            <a:ext cx="1463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36FCE"/>
                </a:solidFill>
                <a:latin typeface="Aptos"/>
              </a:rPr>
              <a:t>In progress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59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7" y="2240280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Selecting the best Stage 1 teacher configuration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262432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7" y="2569464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Stage 2 v6 sparse-causal smoke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295351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0327" y="2898648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Unified quality and speed evaluation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32826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7" y="3227832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Comparisons against SeedVR and FlashVSR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150876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783080"/>
            <a:ext cx="1463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E8145"/>
                </a:solidFill>
                <a:latin typeface="Aptos"/>
              </a:rPr>
              <a:t>Needs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29514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9368" y="2240280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Stable multi-GPU training windows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2624328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9368" y="2569464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Fixed benchmark set and runtime metrics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953512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2898648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Clear definition of real degraded inputs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32826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8" y="3227832"/>
            <a:ext cx="2450591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10" b="0">
                <a:solidFill>
                  <a:srgbClr val="191F26"/>
                </a:solidFill>
                <a:latin typeface="Aptos"/>
              </a:rPr>
              <a:t>Author confirmation for Stage 2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510528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4"/>
                </a:solidFill>
                <a:latin typeface="Aptos"/>
              </a:rPr>
              <a:t>LucidVR / confidential working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57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ptos"/>
              </a:rPr>
              <a:t>Roadmap to a usable LucidVR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34440"/>
            <a:ext cx="1371600" cy="54864"/>
          </a:xfrm>
          <a:prstGeom prst="rect">
            <a:avLst/>
          </a:prstGeom>
          <a:solidFill>
            <a:srgbClr val="00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960120" cy="411480"/>
          </a:xfrm>
          <a:prstGeom prst="round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67335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Stage 1 teacher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011680"/>
            <a:ext cx="795527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5E0EA"/>
                </a:solidFill>
                <a:latin typeface="Aptos"/>
              </a:rPr>
              <a:t>Finish corrected alignment runs and select the best teacher checkpoint.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960120" cy="411480"/>
          </a:xfrm>
          <a:prstGeom prst="roundRect">
            <a:avLst/>
          </a:prstGeom>
          <a:solidFill>
            <a:srgbClr val="2B4158"/>
          </a:solidFill>
          <a:ln w="12700">
            <a:solidFill>
              <a:srgbClr val="465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67919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Stage 2 sparse-causal adaptation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017520"/>
            <a:ext cx="795527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5E0EA"/>
                </a:solidFill>
                <a:latin typeface="Aptos"/>
              </a:rPr>
              <a:t>Validate official chunk mask and block-sparse top-k attention for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03320"/>
            <a:ext cx="960120" cy="411480"/>
          </a:xfrm>
          <a:prstGeom prst="roundRect">
            <a:avLst/>
          </a:prstGeom>
          <a:solidFill>
            <a:srgbClr val="2B4158"/>
          </a:solidFill>
          <a:ln w="12700">
            <a:solidFill>
              <a:srgbClr val="465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68503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Stage 3 distillation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023360"/>
            <a:ext cx="795527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5E0EA"/>
                </a:solidFill>
                <a:latin typeface="Aptos"/>
              </a:rPr>
              <a:t>Train a faster student with pixel-level and perceptual losses.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09160"/>
            <a:ext cx="960120" cy="411480"/>
          </a:xfrm>
          <a:prstGeom prst="roundRect">
            <a:avLst/>
          </a:prstGeom>
          <a:solidFill>
            <a:srgbClr val="2B4158"/>
          </a:solidFill>
          <a:ln w="12700">
            <a:solidFill>
              <a:srgbClr val="465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69087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Evaluation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029200"/>
            <a:ext cx="7955279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D5E0EA"/>
                </a:solidFill>
                <a:latin typeface="Aptos"/>
              </a:rPr>
              <a:t>Fixed test set, quality/runtimes/VRAM comparison, and reproducible scripts.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417320"/>
            <a:ext cx="2926080" cy="2194560"/>
          </a:xfrm>
          <a:prstGeom prst="roundRect">
            <a:avLst/>
          </a:prstGeom>
          <a:solidFill>
            <a:srgbClr val="152B42"/>
          </a:solidFill>
          <a:ln w="12700">
            <a:solidFill>
              <a:srgbClr val="3A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737360"/>
            <a:ext cx="21945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Executive 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203704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148840"/>
            <a:ext cx="19476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BF3"/>
                </a:solidFill>
                <a:latin typeface="Aptos"/>
              </a:rPr>
              <a:t>Maintain multi-GPU training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514600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9368" y="2459736"/>
            <a:ext cx="19476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BF3"/>
                </a:solidFill>
                <a:latin typeface="Aptos"/>
              </a:rPr>
              <a:t>Use a fixed benchmark for quality and speed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825496"/>
            <a:ext cx="91440" cy="91440"/>
          </a:xfrm>
          <a:prstGeom prst="rect">
            <a:avLst/>
          </a:prstGeom>
          <a:solidFill>
            <a:srgbClr val="00977E"/>
          </a:solidFill>
          <a:ln w="12700">
            <a:solidFill>
              <a:srgbClr val="009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9368" y="2770632"/>
            <a:ext cx="1947672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2EBF3"/>
                </a:solidFill>
                <a:latin typeface="Aptos"/>
              </a:rPr>
              <a:t>Move to Stage 2 once sparse-causal smoke passes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80760"/>
            <a:ext cx="106984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CE7F0"/>
                </a:solidFill>
                <a:latin typeface="Aptos"/>
              </a:rPr>
              <a:t>Expected outcome: a fast, streaming-friendly VSR model adapted to internal data distribution.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4C0C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